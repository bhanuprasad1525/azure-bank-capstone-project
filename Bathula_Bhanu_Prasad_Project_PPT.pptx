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3"/>
  </p:notesMasterIdLst>
  <p:sldIdLst>
    <p:sldId id="277"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embeddedFontLst>
    <p:embeddedFont>
      <p:font typeface="Proxima Nova" panose="020B0604020202020204" charset="0"/>
      <p:regular r:id="rId24"/>
      <p:bold r:id="rId25"/>
      <p:italic r:id="rId26"/>
      <p:boldItalic r:id="rId27"/>
    </p:embeddedFont>
    <p:embeddedFont>
      <p:font typeface="Roboto" panose="02000000000000000000" pitchFamily="2" charset="0"/>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07" d="100"/>
          <a:sy n="107" d="100"/>
        </p:scale>
        <p:origin x="754"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This presentation introduces the Azure Banking Data Platform – a comprehensive modernization initiative for a financial institution. The project integrates multiple Azure services to create a unified, secure, and intelligent data ecosystem. </a:t>
            </a:r>
          </a:p>
          <a:p>
            <a:endParaRPr/>
          </a:p>
          <a:p>
            <a:r>
              <a:t>Over the next few slides, we’ll explore how this solution enables real-time fraud detection, enhances customer analytics through a 360-degree view, and ensures regulatory compliance using scalable data engineering principles. </a:t>
            </a:r>
          </a:p>
          <a:p>
            <a:endParaRPr/>
          </a:p>
          <a:p>
            <a:r>
              <a:t>It’s an enterprise-level implementation showcasing how Azure technologies, combined with Python and PySpark, can transform traditional banking data operations into an advanced analytics powerhouse.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This slide outlines the key business goals driving the modernization initiative. The vision is to enable a unified and intelligent banking ecosystem that ensures both customer satisfaction and regulatory integrity. </a:t>
            </a:r>
          </a:p>
          <a:p>
            <a:endParaRPr/>
          </a:p>
          <a:p>
            <a:r>
              <a:t>By leveraging Azure’s scalability and advanced analytics capabilities, the project achieves operational transparency and agility. It delivers immediate fraud detection, deep customer insights, and a strong compliance backbone — setting a benchmark for digital banking transformation.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platform’s foundation lies in the Lambda architecture — a hybrid design that combines batch and real-time data flows. This model ensures that high-volume banking transactions can be processed with minimal latency while maintaining data consistency. </a:t>
            </a:r>
          </a:p>
          <a:p>
            <a:endParaRPr/>
          </a:p>
          <a:p>
            <a:r>
              <a:t>Azure Event Grid and Service Bus enable efficient event-driven communication, while Azure Functions handle ingestion and transformation in real-time. The architecture ensures a secure and scalable framework capable of supporting critical workloads such as fraud detection and customer analytics.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data ingestion layer is where raw information from various banking channels first enters the platform. Real-time ingestion uses Azure Event Grid and Service Bus to handle thousands of transactions per second, while batch ingestion brings in larger historical and master datasets. </a:t>
            </a:r>
          </a:p>
          <a:p>
            <a:endParaRPr/>
          </a:p>
          <a:p>
            <a:r>
              <a:t>Azure Functions written in Python perform early validation and enrichment, ensuring only clean and structured data moves downstream. This foundation supports not just analytics, but also operational resilience and security through integrated network firewalls.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platform ingests information from diverse banking sources — real-time transactional streams and batch-based enterprise systems. Real-time data includes ATM and UPI transactions, while batch processes handle daily core banking extracts and KYC documentation. </a:t>
            </a:r>
          </a:p>
          <a:p>
            <a:endParaRPr/>
          </a:p>
          <a:p>
            <a:r>
              <a:t>This hybrid design provides both immediacy for operational analytics and completeness for regulatory reporting. Through redundancy and retry mechanisms, the ingestion system ensures reliability even under peak banking loads.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Azure’s event-driven architecture ensures that every new piece of data — whether a file upload or transaction — is captured instantly. Event Grid orchestrates the process, triggering downstream actions automatically. </a:t>
            </a:r>
          </a:p>
          <a:p>
            <a:endParaRPr/>
          </a:p>
          <a:p>
            <a:r>
              <a:t>Service Bus acts as a high-performance backbone, maintaining reliability and ordering across thousands of parallel ingestion flows. This asynchronous architecture provides near real-time responsiveness and elasticity during transaction spikes.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Azure Functions form the intelligent backbone of this data platform. Written in Python, these lightweight serverless components handle ingestion, validation, and transformation automatically whenever new data arrives. </a:t>
            </a:r>
          </a:p>
          <a:p>
            <a:endParaRPr/>
          </a:p>
          <a:p>
            <a:r>
              <a:t>The functions are designed to classify and enrich transactional data, detect anomalies, and maintain high data integrity. Once validated, the refined data flows seamlessly into Cosmos DB or ADLS for analytics — forming the foundation for downstream data science and fraud monitoring pipelines.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Cosmos DB serves as the operational backbone of the platform, providing ultra-low-latency reads and writes across globally distributed data centers. Each collection—whether for transactions, alerts, or customer profiles—is designed for optimal performance using partitioning strategies that align with access patterns. </a:t>
            </a:r>
          </a:p>
          <a:p>
            <a:endParaRPr/>
          </a:p>
          <a:p>
            <a:r>
              <a:t>This store not only powers real-time dashboards and API calls but also feeds the analytical layers for deeper insights and predictive modeling.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PySpark pipeline forms the heart of the data transformation layer. It ingests raw, semi-structured data from Cosmos DB and Azure Data Lake Storage and then cleans, normalizes, and merges it. </a:t>
            </a:r>
          </a:p>
          <a:p>
            <a:endParaRPr/>
          </a:p>
          <a:p>
            <a:r>
              <a:t>By structuring data into Bronze, Silver, and Gold Delta Lake layers, the system supports iterative data refinement and reliable analytics. This design ensures enterprise scalability and quality control for downstream BI and ML workloads.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analytical data warehouse leverages a Star Schema for simplicity and high performance in reporting. With dimension tables like Customer and Product, and fact tables such as Transactions and Fraud Detection, analysts can slice and dice data across multiple perspectives. </a:t>
            </a:r>
          </a:p>
          <a:p>
            <a:endParaRPr/>
          </a:p>
          <a:p>
            <a:r>
              <a:t>This layer provides the foundation for Power BI reporting and compliance analytics, ensuring data consistency, auditability, and fast query performance.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ETL pipeline automates the movement and transformation of data from raw to refined states. PySpark leverages the Delta Lake format for reliability and consistency, ensuring every operation adheres to ACID principles. </a:t>
            </a:r>
          </a:p>
          <a:p>
            <a:endParaRPr/>
          </a:p>
          <a:p>
            <a:r>
              <a:t>Incremental updates are applied using efficient MERGE/UPSERT operations into dimension and fact tables within the Azure Synapse warehouse. With orchestration managed by Azure Data Factory and Functions, the system ensures end-to-end automation and traceability.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Fraud detection is one of the most critical use cases in this banking data platform. Using Azure Event Grid and Functions, every high-value or unusual transaction triggers an automated anomaly check. </a:t>
            </a:r>
          </a:p>
          <a:p>
            <a:endParaRPr/>
          </a:p>
          <a:p>
            <a:r>
              <a:t>The system correlates transaction data with location, device, and behavioral patterns to identify potential risks. Once an anomaly is confirmed, an alert is written to Cosmos DB and customer notifications are dispatched via Service Bus — all in seconds.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Security is paramount in the banking domain, and this architecture embeds protection at every layer. All traffic passes through controlled firewalls — either Juniper vSRX or Azure Firewall — ensuring strict perimeter defense. </a:t>
            </a:r>
          </a:p>
          <a:p>
            <a:endParaRPr/>
          </a:p>
          <a:p>
            <a:r>
              <a:t>By applying Banking Zone segmentation, the platform limits access to essential subnets only. Private Endpoints further isolate data services like Synapse and Cosmos DB, ensuring that no data ever leaves the secured virtual network. Continuous monitoring and egress inspection safeguard against data breaches or unauthorized transfers.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Automation is key to modern data platform operations. The project employs GitHub Actions and Azure DevOps to build, test, and deploy all components — from Azure Functions to Synapse SQL schemas — in a fully automated fashion. </a:t>
            </a:r>
          </a:p>
          <a:p>
            <a:endParaRPr/>
          </a:p>
          <a:p>
            <a:r>
              <a:t>Using Infrastructure as Code ensures consistency across environments, while Blue/Green deployments minimize service disruption. This DevOps integration accelerates release cycles and reduces human error in deployment processes.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Customer 360 module provides a complete, data-driven view of each customer. It merges data from multiple sources — including transactions, demographics, and device logs — to deliver a real-time analytical portrait. </a:t>
            </a:r>
          </a:p>
          <a:p>
            <a:endParaRPr/>
          </a:p>
          <a:p>
            <a:r>
              <a:t>This enables the bank to predict churn, detect fraud, and personalize product recommendations. By integrating data from both operational (Cosmos DB) and analytical (Synapse SQL) systems, the organization gains actionable insights that directly improve customer experience and risk management.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Power BI dashboards transform the underlying data into actionable visual insights for all stakeholders. Executives can track branch and channel performance, compliance officers can monitor RBI reporting, and risk teams can evaluate fraud metrics in real-time. </a:t>
            </a:r>
          </a:p>
          <a:p>
            <a:endParaRPr/>
          </a:p>
          <a:p>
            <a:r>
              <a:t>This suite of dashboards forms the analytical front-end of the platform, making it possible to translate complex data pipelines into accessible, decision-ready intelligence.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end-to-end demo brings all platform components together. When a new ATM transaction file is uploaded, Event Grid immediately triggers Azure Functions to validate and process it. The cleaned data flows through PySpark pipelines into Cosmos DB and Synapse SQL. </a:t>
            </a:r>
          </a:p>
          <a:p>
            <a:endParaRPr/>
          </a:p>
          <a:p>
            <a:r>
              <a:t>Within seconds, Power BI dashboards refresh with new metrics while any suspicious transactions automatically generate fraud alerts and notifications. This seamless automation demonstrates the platform’s real-world readiness and reliability.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completed banking data platform exemplifies enterprise-grade engineering. It seamlessly combines real-time and batch data handling, enabling continuous analytics and operational intelligence. </a:t>
            </a:r>
          </a:p>
          <a:p>
            <a:endParaRPr/>
          </a:p>
          <a:p>
            <a:r>
              <a:t>Automation through CI/CD ensures every deployment is fast and reliable, while built-in network and data security align with strict banking regulations. The result is a resilient and scalable system ready for production environments.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implementation delivered tangible business value beyond technology enablement. Operational workflows became significantly more efficient, risk exposure was reduced through proactive fraud detection, and customer intelligence reached new levels of personalization. </a:t>
            </a:r>
          </a:p>
          <a:p>
            <a:endParaRPr/>
          </a:p>
          <a:p>
            <a:r>
              <a:t>Moreover, automated compliance reporting reduced regulatory overhead, allowing the bank to focus on innovation and customer satisfaction while maintaining stringent data governance standards.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This project marks a major milestone in the bank’s digital journey, laying the groundwork for data-driven operations and AI-powered innovation. The Azure Banking Data Platform delivers unmatched agility, visibility, and resilience across all functions. </a:t>
            </a:r>
          </a:p>
          <a:p>
            <a:endParaRPr/>
          </a:p>
          <a:p>
            <a:r>
              <a:t>As the next step, integrating advanced machine learning and predictive analytics will further enhance decision-making and customer experience. With this foundation in place, the bank is now positioned to lead the future of intelligent, secure, and customer-centric financial services.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1" name="Google Shape;11;p2"/>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2" name="Google Shape;12;p2"/>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userDrawn="1">
  <p:cSld name="SECTION_HEADER">
    <p:bg>
      <p:bgPr>
        <a:solidFill>
          <a:schemeClr val="dk1"/>
        </a:solidFill>
        <a:effectLst/>
      </p:bgPr>
    </p:bg>
    <p:spTree>
      <p:nvGrpSpPr>
        <p:cNvPr id="1" name="Shape 13"/>
        <p:cNvGrpSpPr/>
        <p:nvPr/>
      </p:nvGrpSpPr>
      <p:grpSpPr>
        <a:xfrm>
          <a:off x="0" y="0"/>
          <a:ext cx="0" cy="0"/>
          <a:chOff x="0" y="0"/>
          <a:chExt cx="0" cy="0"/>
        </a:xfrm>
      </p:grpSpPr>
      <p:cxnSp>
        <p:nvCxnSpPr>
          <p:cNvPr id="14" name="Google Shape;14;p3"/>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5" name="Google Shape;15;p3"/>
          <p:cNvSpPr txBox="1">
            <a:spLocks noGrp="1"/>
          </p:cNvSpPr>
          <p:nvPr>
            <p:ph type="title"/>
          </p:nvPr>
        </p:nvSpPr>
        <p:spPr>
          <a:xfrm>
            <a:off x="510450" y="2057400"/>
            <a:ext cx="8123100" cy="77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4"/>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200"/>
              <a:buNone/>
              <a:defRPr sz="2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311700" y="1304875"/>
            <a:ext cx="8520600" cy="34164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SzPts val="1600"/>
              <a:buChar char="●"/>
              <a:defRPr sz="160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1" name="Google Shape;2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4"/>
                </a:solidFill>
              </a:defRPr>
            </a:lvl1pPr>
            <a:lvl2pPr lvl="1">
              <a:buNone/>
              <a:defRPr>
                <a:solidFill>
                  <a:schemeClr val="accent4"/>
                </a:solidFill>
              </a:defRPr>
            </a:lvl2pPr>
            <a:lvl3pPr lvl="2">
              <a:buNone/>
              <a:defRPr>
                <a:solidFill>
                  <a:schemeClr val="accent4"/>
                </a:solidFill>
              </a:defRPr>
            </a:lvl3pPr>
            <a:lvl4pPr lvl="3">
              <a:buNone/>
              <a:defRPr>
                <a:solidFill>
                  <a:schemeClr val="accent4"/>
                </a:solidFill>
              </a:defRPr>
            </a:lvl4pPr>
            <a:lvl5pPr lvl="4">
              <a:buNone/>
              <a:defRPr>
                <a:solidFill>
                  <a:schemeClr val="accent4"/>
                </a:solidFill>
              </a:defRPr>
            </a:lvl5pPr>
            <a:lvl6pPr lvl="5">
              <a:buNone/>
              <a:defRPr>
                <a:solidFill>
                  <a:schemeClr val="accent4"/>
                </a:solidFill>
              </a:defRPr>
            </a:lvl6pPr>
            <a:lvl7pPr lvl="6">
              <a:buNone/>
              <a:defRPr>
                <a:solidFill>
                  <a:schemeClr val="accent4"/>
                </a:solidFill>
              </a:defRPr>
            </a:lvl7pPr>
            <a:lvl8pPr lvl="7">
              <a:buNone/>
              <a:defRPr>
                <a:solidFill>
                  <a:schemeClr val="accent4"/>
                </a:solidFill>
              </a:defRPr>
            </a:lvl8pPr>
            <a:lvl9pPr lvl="8">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
        <p:nvSpPr>
          <p:cNvPr id="22" name="Google Shape;22;p4"/>
          <p:cNvSpPr txBox="1">
            <a:spLocks noGrp="1"/>
          </p:cNvSpPr>
          <p:nvPr>
            <p:ph type="subTitle" idx="2"/>
          </p:nvPr>
        </p:nvSpPr>
        <p:spPr>
          <a:xfrm>
            <a:off x="387975" y="789025"/>
            <a:ext cx="8520600" cy="833100"/>
          </a:xfrm>
          <a:prstGeom prst="rect">
            <a:avLst/>
          </a:prstGeom>
        </p:spPr>
        <p:txBody>
          <a:bodyPr spcFirstLastPara="1" wrap="square" lIns="91425" tIns="91425" rIns="91425" bIns="91425" anchor="t" anchorCtr="0">
            <a:normAutofit/>
          </a:bodyPr>
          <a:lstStyle>
            <a:lvl1pPr lvl="0">
              <a:spcBef>
                <a:spcPts val="0"/>
              </a:spcBef>
              <a:spcAft>
                <a:spcPts val="0"/>
              </a:spcAft>
              <a:buSzPts val="1500"/>
              <a:buNone/>
              <a:defRPr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genda" userDrawn="1">
  <p:cSld name="TITLE_AND_BODY_1">
    <p:spTree>
      <p:nvGrpSpPr>
        <p:cNvPr id="1" name="Shape 23"/>
        <p:cNvGrpSpPr/>
        <p:nvPr/>
      </p:nvGrpSpPr>
      <p:grpSpPr>
        <a:xfrm>
          <a:off x="0" y="0"/>
          <a:ext cx="0" cy="0"/>
          <a:chOff x="0" y="0"/>
          <a:chExt cx="0" cy="0"/>
        </a:xfrm>
      </p:grpSpPr>
      <p:sp>
        <p:nvSpPr>
          <p:cNvPr id="24" name="Google Shape;24;p5"/>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5"/>
          <p:cNvSpPr txBox="1">
            <a:spLocks noGrp="1"/>
          </p:cNvSpPr>
          <p:nvPr>
            <p:ph type="title" hasCustomPrompt="1"/>
          </p:nvPr>
        </p:nvSpPr>
        <p:spPr>
          <a:xfrm>
            <a:off x="311700" y="0"/>
            <a:ext cx="8520600" cy="712925"/>
          </a:xfrm>
          <a:prstGeom prst="rect">
            <a:avLst/>
          </a:prstGeom>
        </p:spPr>
        <p:txBody>
          <a:bodyPr spcFirstLastPara="1" wrap="square" lIns="91425" tIns="91425" rIns="91425" bIns="91425" anchor="ctr" anchorCtr="0">
            <a:normAutofit/>
          </a:bodyPr>
          <a:lstStyle>
            <a:lvl1pPr lvl="0" rtl="0">
              <a:spcBef>
                <a:spcPts val="0"/>
              </a:spcBef>
              <a:spcAft>
                <a:spcPts val="0"/>
              </a:spcAft>
              <a:buSzPts val="2200"/>
              <a:buNone/>
              <a:defRPr sz="2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dirty="0"/>
              <a:t>Agenda</a:t>
            </a:r>
            <a:endParaRPr dirty="0"/>
          </a:p>
        </p:txBody>
      </p:sp>
      <p:sp>
        <p:nvSpPr>
          <p:cNvPr id="26" name="Google Shape;26;p5"/>
          <p:cNvSpPr txBox="1">
            <a:spLocks noGrp="1"/>
          </p:cNvSpPr>
          <p:nvPr>
            <p:ph type="body" idx="1"/>
          </p:nvPr>
        </p:nvSpPr>
        <p:spPr>
          <a:xfrm>
            <a:off x="311700" y="1194734"/>
            <a:ext cx="8520600" cy="3850965"/>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SzPts val="1600"/>
              <a:buChar char="●"/>
              <a:defRPr sz="16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dirty="0"/>
          </a:p>
        </p:txBody>
      </p:sp>
      <p:sp>
        <p:nvSpPr>
          <p:cNvPr id="27" name="Google Shape;27;p5"/>
          <p:cNvSpPr txBox="1">
            <a:spLocks noGrp="1"/>
          </p:cNvSpPr>
          <p:nvPr>
            <p:ph type="sldNum" idx="12"/>
          </p:nvPr>
        </p:nvSpPr>
        <p:spPr>
          <a:xfrm>
            <a:off x="8832297" y="4863993"/>
            <a:ext cx="311411" cy="192824"/>
          </a:xfrm>
          <a:prstGeom prst="rect">
            <a:avLst/>
          </a:prstGeom>
        </p:spPr>
        <p:txBody>
          <a:bodyPr spcFirstLastPara="1" wrap="square" lIns="91425" tIns="91425" rIns="91425" bIns="91425" anchor="ctr" anchorCtr="0">
            <a:normAutofit/>
          </a:bodyPr>
          <a:lstStyle>
            <a:lvl1pPr lvl="0" rtl="0">
              <a:buNone/>
              <a:defRPr>
                <a:solidFill>
                  <a:schemeClr val="accent4"/>
                </a:solidFill>
              </a:defRPr>
            </a:lvl1pPr>
            <a:lvl2pPr lvl="1" rtl="0">
              <a:buNone/>
              <a:defRPr>
                <a:solidFill>
                  <a:schemeClr val="accent4"/>
                </a:solidFill>
              </a:defRPr>
            </a:lvl2pPr>
            <a:lvl3pPr lvl="2" rtl="0">
              <a:buNone/>
              <a:defRPr>
                <a:solidFill>
                  <a:schemeClr val="accent4"/>
                </a:solidFill>
              </a:defRPr>
            </a:lvl3pPr>
            <a:lvl4pPr lvl="3" rtl="0">
              <a:buNone/>
              <a:defRPr>
                <a:solidFill>
                  <a:schemeClr val="accent4"/>
                </a:solidFill>
              </a:defRPr>
            </a:lvl4pPr>
            <a:lvl5pPr lvl="4" rtl="0">
              <a:buNone/>
              <a:defRPr>
                <a:solidFill>
                  <a:schemeClr val="accent4"/>
                </a:solidFill>
              </a:defRPr>
            </a:lvl5pPr>
            <a:lvl6pPr lvl="5" rtl="0">
              <a:buNone/>
              <a:defRPr>
                <a:solidFill>
                  <a:schemeClr val="accent4"/>
                </a:solidFill>
              </a:defRPr>
            </a:lvl6pPr>
            <a:lvl7pPr lvl="6" rtl="0">
              <a:buNone/>
              <a:defRPr>
                <a:solidFill>
                  <a:schemeClr val="accent4"/>
                </a:solidFill>
              </a:defRPr>
            </a:lvl7pPr>
            <a:lvl8pPr lvl="7" rtl="0">
              <a:buNone/>
              <a:defRPr>
                <a:solidFill>
                  <a:schemeClr val="accent4"/>
                </a:solidFill>
              </a:defRPr>
            </a:lvl8pPr>
            <a:lvl9pPr lvl="8" rtl="0">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
        <p:nvSpPr>
          <p:cNvPr id="10" name="Subtitle 1">
            <a:extLst>
              <a:ext uri="{FF2B5EF4-FFF2-40B4-BE49-F238E27FC236}">
                <a16:creationId xmlns:a16="http://schemas.microsoft.com/office/drawing/2014/main" id="{0D296A4F-FF01-A06E-7AAA-3D203B6399A4}"/>
              </a:ext>
            </a:extLst>
          </p:cNvPr>
          <p:cNvSpPr>
            <a:spLocks noGrp="1"/>
          </p:cNvSpPr>
          <p:nvPr>
            <p:ph type="subTitle" idx="13"/>
          </p:nvPr>
        </p:nvSpPr>
        <p:spPr>
          <a:xfrm>
            <a:off x="311699" y="712926"/>
            <a:ext cx="8520599" cy="481810"/>
          </a:xfrm>
        </p:spPr>
        <p:txBody>
          <a:bodyPr tIns="0" anchor="t">
            <a:normAutofit/>
          </a:bodyPr>
          <a:lstStyle>
            <a:lvl1pPr marL="0" indent="0" algn="l">
              <a:lnSpc>
                <a:spcPct val="100000"/>
              </a:lnSpc>
              <a:buNone/>
              <a:defRPr sz="1600"/>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200"/>
              <a:buNone/>
              <a:defRPr sz="2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Google Shape;30;p6"/>
          <p:cNvSpPr txBox="1">
            <a:spLocks noGrp="1"/>
          </p:cNvSpPr>
          <p:nvPr>
            <p:ph type="body" idx="1"/>
          </p:nvPr>
        </p:nvSpPr>
        <p:spPr>
          <a:xfrm>
            <a:off x="311700" y="13810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6"/>
          <p:cNvSpPr txBox="1">
            <a:spLocks noGrp="1"/>
          </p:cNvSpPr>
          <p:nvPr>
            <p:ph type="body" idx="2"/>
          </p:nvPr>
        </p:nvSpPr>
        <p:spPr>
          <a:xfrm>
            <a:off x="4832400" y="13048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4"/>
                </a:solidFill>
              </a:defRPr>
            </a:lvl1pPr>
            <a:lvl2pPr lvl="1">
              <a:buNone/>
              <a:defRPr>
                <a:solidFill>
                  <a:schemeClr val="accent4"/>
                </a:solidFill>
              </a:defRPr>
            </a:lvl2pPr>
            <a:lvl3pPr lvl="2">
              <a:buNone/>
              <a:defRPr>
                <a:solidFill>
                  <a:schemeClr val="accent4"/>
                </a:solidFill>
              </a:defRPr>
            </a:lvl3pPr>
            <a:lvl4pPr lvl="3">
              <a:buNone/>
              <a:defRPr>
                <a:solidFill>
                  <a:schemeClr val="accent4"/>
                </a:solidFill>
              </a:defRPr>
            </a:lvl4pPr>
            <a:lvl5pPr lvl="4">
              <a:buNone/>
              <a:defRPr>
                <a:solidFill>
                  <a:schemeClr val="accent4"/>
                </a:solidFill>
              </a:defRPr>
            </a:lvl5pPr>
            <a:lvl6pPr lvl="5">
              <a:buNone/>
              <a:defRPr>
                <a:solidFill>
                  <a:schemeClr val="accent4"/>
                </a:solidFill>
              </a:defRPr>
            </a:lvl6pPr>
            <a:lvl7pPr lvl="6">
              <a:buNone/>
              <a:defRPr>
                <a:solidFill>
                  <a:schemeClr val="accent4"/>
                </a:solidFill>
              </a:defRPr>
            </a:lvl7pPr>
            <a:lvl8pPr lvl="7">
              <a:buNone/>
              <a:defRPr>
                <a:solidFill>
                  <a:schemeClr val="accent4"/>
                </a:solidFill>
              </a:defRPr>
            </a:lvl8pPr>
            <a:lvl9pPr lvl="8">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6"/>
          <p:cNvSpPr txBox="1">
            <a:spLocks noGrp="1"/>
          </p:cNvSpPr>
          <p:nvPr>
            <p:ph type="subTitle" idx="3"/>
          </p:nvPr>
        </p:nvSpPr>
        <p:spPr>
          <a:xfrm>
            <a:off x="386975" y="8640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a:lvl1pPr>
            <a:lvl2pPr lvl="1" algn="ctr" rtl="0">
              <a:lnSpc>
                <a:spcPct val="100000"/>
              </a:lnSpc>
              <a:spcBef>
                <a:spcPts val="0"/>
              </a:spcBef>
              <a:spcAft>
                <a:spcPts val="0"/>
              </a:spcAft>
              <a:buClr>
                <a:schemeClr val="accent5"/>
              </a:buClr>
              <a:buSzPts val="2100"/>
              <a:buNone/>
              <a:defRPr sz="2100">
                <a:solidFill>
                  <a:schemeClr val="accent5"/>
                </a:solidFill>
              </a:defRPr>
            </a:lvl2pPr>
            <a:lvl3pPr lvl="2" algn="ctr" rtl="0">
              <a:lnSpc>
                <a:spcPct val="100000"/>
              </a:lnSpc>
              <a:spcBef>
                <a:spcPts val="0"/>
              </a:spcBef>
              <a:spcAft>
                <a:spcPts val="0"/>
              </a:spcAft>
              <a:buClr>
                <a:schemeClr val="accent5"/>
              </a:buClr>
              <a:buSzPts val="2100"/>
              <a:buNone/>
              <a:defRPr sz="2100">
                <a:solidFill>
                  <a:schemeClr val="accent5"/>
                </a:solidFill>
              </a:defRPr>
            </a:lvl3pPr>
            <a:lvl4pPr lvl="3" algn="ctr" rtl="0">
              <a:lnSpc>
                <a:spcPct val="100000"/>
              </a:lnSpc>
              <a:spcBef>
                <a:spcPts val="0"/>
              </a:spcBef>
              <a:spcAft>
                <a:spcPts val="0"/>
              </a:spcAft>
              <a:buClr>
                <a:schemeClr val="accent5"/>
              </a:buClr>
              <a:buSzPts val="2100"/>
              <a:buNone/>
              <a:defRPr sz="2100">
                <a:solidFill>
                  <a:schemeClr val="accent5"/>
                </a:solidFill>
              </a:defRPr>
            </a:lvl4pPr>
            <a:lvl5pPr lvl="4" algn="ctr" rtl="0">
              <a:lnSpc>
                <a:spcPct val="100000"/>
              </a:lnSpc>
              <a:spcBef>
                <a:spcPts val="0"/>
              </a:spcBef>
              <a:spcAft>
                <a:spcPts val="0"/>
              </a:spcAft>
              <a:buClr>
                <a:schemeClr val="accent5"/>
              </a:buClr>
              <a:buSzPts val="2100"/>
              <a:buNone/>
              <a:defRPr sz="2100">
                <a:solidFill>
                  <a:schemeClr val="accent5"/>
                </a:solidFill>
              </a:defRPr>
            </a:lvl5pPr>
            <a:lvl6pPr lvl="5" algn="ctr" rtl="0">
              <a:lnSpc>
                <a:spcPct val="100000"/>
              </a:lnSpc>
              <a:spcBef>
                <a:spcPts val="0"/>
              </a:spcBef>
              <a:spcAft>
                <a:spcPts val="0"/>
              </a:spcAft>
              <a:buClr>
                <a:schemeClr val="accent5"/>
              </a:buClr>
              <a:buSzPts val="2100"/>
              <a:buNone/>
              <a:defRPr sz="2100">
                <a:solidFill>
                  <a:schemeClr val="accent5"/>
                </a:solidFill>
              </a:defRPr>
            </a:lvl6pPr>
            <a:lvl7pPr lvl="6" algn="ctr" rtl="0">
              <a:lnSpc>
                <a:spcPct val="100000"/>
              </a:lnSpc>
              <a:spcBef>
                <a:spcPts val="0"/>
              </a:spcBef>
              <a:spcAft>
                <a:spcPts val="0"/>
              </a:spcAft>
              <a:buClr>
                <a:schemeClr val="accent5"/>
              </a:buClr>
              <a:buSzPts val="2100"/>
              <a:buNone/>
              <a:defRPr sz="2100">
                <a:solidFill>
                  <a:schemeClr val="accent5"/>
                </a:solidFill>
              </a:defRPr>
            </a:lvl7pPr>
            <a:lvl8pPr lvl="7" algn="ctr" rtl="0">
              <a:lnSpc>
                <a:spcPct val="100000"/>
              </a:lnSpc>
              <a:spcBef>
                <a:spcPts val="0"/>
              </a:spcBef>
              <a:spcAft>
                <a:spcPts val="0"/>
              </a:spcAft>
              <a:buClr>
                <a:schemeClr val="accent5"/>
              </a:buClr>
              <a:buSzPts val="2100"/>
              <a:buNone/>
              <a:defRPr sz="2100">
                <a:solidFill>
                  <a:schemeClr val="accent5"/>
                </a:solidFill>
              </a:defRPr>
            </a:lvl8pPr>
            <a:lvl9pPr lvl="8" algn="ctr" rtl="0">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34" name="Google Shape;34;p6"/>
          <p:cNvSpPr txBox="1">
            <a:spLocks noGrp="1"/>
          </p:cNvSpPr>
          <p:nvPr>
            <p:ph type="body" idx="4"/>
          </p:nvPr>
        </p:nvSpPr>
        <p:spPr>
          <a:xfrm>
            <a:off x="4813725" y="3822525"/>
            <a:ext cx="3999900" cy="208200"/>
          </a:xfrm>
          <a:prstGeom prst="rect">
            <a:avLst/>
          </a:prstGeom>
        </p:spPr>
        <p:txBody>
          <a:bodyPr spcFirstLastPara="1" wrap="square" lIns="91425" tIns="91425" rIns="91425" bIns="91425" anchor="t" anchorCtr="0">
            <a:normAutofit/>
          </a:bodyPr>
          <a:lstStyle>
            <a:lvl1pPr marL="457200" lvl="0" indent="-273050" algn="r" rtl="0">
              <a:spcBef>
                <a:spcPts val="0"/>
              </a:spcBef>
              <a:spcAft>
                <a:spcPts val="0"/>
              </a:spcAft>
              <a:buSzPts val="700"/>
              <a:buChar char="●"/>
              <a:defRPr sz="700"/>
            </a:lvl1pPr>
            <a:lvl2pPr marL="914400" lvl="1" indent="-260350" algn="r" rtl="0">
              <a:spcBef>
                <a:spcPts val="0"/>
              </a:spcBef>
              <a:spcAft>
                <a:spcPts val="0"/>
              </a:spcAft>
              <a:buSzPts val="500"/>
              <a:buChar char="○"/>
              <a:defRPr sz="500"/>
            </a:lvl2pPr>
            <a:lvl3pPr marL="1371600" lvl="2" indent="-260350" algn="r" rtl="0">
              <a:spcBef>
                <a:spcPts val="0"/>
              </a:spcBef>
              <a:spcAft>
                <a:spcPts val="0"/>
              </a:spcAft>
              <a:buSzPts val="500"/>
              <a:buChar char="■"/>
              <a:defRPr sz="500"/>
            </a:lvl3pPr>
            <a:lvl4pPr marL="1828800" lvl="3" indent="-260350" algn="r" rtl="0">
              <a:spcBef>
                <a:spcPts val="0"/>
              </a:spcBef>
              <a:spcAft>
                <a:spcPts val="0"/>
              </a:spcAft>
              <a:buSzPts val="500"/>
              <a:buChar char="●"/>
              <a:defRPr sz="500"/>
            </a:lvl4pPr>
            <a:lvl5pPr marL="2286000" lvl="4" indent="-260350" algn="r" rtl="0">
              <a:spcBef>
                <a:spcPts val="0"/>
              </a:spcBef>
              <a:spcAft>
                <a:spcPts val="0"/>
              </a:spcAft>
              <a:buSzPts val="500"/>
              <a:buChar char="○"/>
              <a:defRPr sz="500"/>
            </a:lvl5pPr>
            <a:lvl6pPr marL="2743200" lvl="5" indent="-260350" algn="r" rtl="0">
              <a:spcBef>
                <a:spcPts val="0"/>
              </a:spcBef>
              <a:spcAft>
                <a:spcPts val="0"/>
              </a:spcAft>
              <a:buSzPts val="500"/>
              <a:buChar char="■"/>
              <a:defRPr sz="500"/>
            </a:lvl6pPr>
            <a:lvl7pPr marL="3200400" lvl="6" indent="-260350" algn="r" rtl="0">
              <a:spcBef>
                <a:spcPts val="0"/>
              </a:spcBef>
              <a:spcAft>
                <a:spcPts val="0"/>
              </a:spcAft>
              <a:buSzPts val="500"/>
              <a:buChar char="●"/>
              <a:defRPr sz="500"/>
            </a:lvl7pPr>
            <a:lvl8pPr marL="3657600" lvl="7" indent="-260350" algn="r" rtl="0">
              <a:spcBef>
                <a:spcPts val="0"/>
              </a:spcBef>
              <a:spcAft>
                <a:spcPts val="0"/>
              </a:spcAft>
              <a:buSzPts val="500"/>
              <a:buChar char="○"/>
              <a:defRPr sz="500"/>
            </a:lvl8pPr>
            <a:lvl9pPr marL="4114800" lvl="8" indent="-260350" algn="r" rtl="0">
              <a:spcBef>
                <a:spcPts val="0"/>
              </a:spcBef>
              <a:spcAft>
                <a:spcPts val="0"/>
              </a:spcAft>
              <a:buSzPts val="500"/>
              <a:buChar char="■"/>
              <a:defRPr sz="5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7" name="Google Shape;3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8"/>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cxnSp>
        <p:nvCxnSpPr>
          <p:cNvPr id="46" name="Google Shape;46;p10"/>
          <p:cNvCxnSpPr/>
          <p:nvPr/>
        </p:nvCxnSpPr>
        <p:spPr>
          <a:xfrm>
            <a:off x="5029675" y="4495500"/>
            <a:ext cx="468300" cy="0"/>
          </a:xfrm>
          <a:prstGeom prst="straightConnector1">
            <a:avLst/>
          </a:prstGeom>
          <a:noFill/>
          <a:ln w="19050" cap="flat" cmpd="sng">
            <a:solidFill>
              <a:schemeClr val="dk1"/>
            </a:solidFill>
            <a:prstDash val="solid"/>
            <a:round/>
            <a:headEnd type="none" w="sm" len="sm"/>
            <a:tailEnd type="none" w="sm" len="sm"/>
          </a:ln>
        </p:spPr>
      </p:cxn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48" name="Google Shape;48;p10"/>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None/>
              <a:defRPr sz="2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9" name="Google Shape;49;p10"/>
          <p:cNvSpPr txBox="1">
            <a:spLocks noGrp="1"/>
          </p:cNvSpPr>
          <p:nvPr>
            <p:ph type="body" idx="1"/>
          </p:nvPr>
        </p:nvSpPr>
        <p:spPr>
          <a:xfrm>
            <a:off x="311700" y="13048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50" name="Google Shape;50;p10"/>
          <p:cNvSpPr txBox="1">
            <a:spLocks noGrp="1"/>
          </p:cNvSpPr>
          <p:nvPr>
            <p:ph type="body" idx="2"/>
          </p:nvPr>
        </p:nvSpPr>
        <p:spPr>
          <a:xfrm>
            <a:off x="4832400" y="13048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51" name="Google Shape;51;p10"/>
          <p:cNvSpPr txBox="1">
            <a:spLocks noGrp="1"/>
          </p:cNvSpPr>
          <p:nvPr>
            <p:ph type="subTitle" idx="3"/>
          </p:nvPr>
        </p:nvSpPr>
        <p:spPr>
          <a:xfrm>
            <a:off x="386975" y="7878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a:lvl1pPr>
            <a:lvl2pPr lvl="1" algn="ctr" rtl="0">
              <a:lnSpc>
                <a:spcPct val="100000"/>
              </a:lnSpc>
              <a:spcBef>
                <a:spcPts val="0"/>
              </a:spcBef>
              <a:spcAft>
                <a:spcPts val="0"/>
              </a:spcAft>
              <a:buClr>
                <a:schemeClr val="accent5"/>
              </a:buClr>
              <a:buSzPts val="2100"/>
              <a:buNone/>
              <a:defRPr sz="2100">
                <a:solidFill>
                  <a:schemeClr val="accent5"/>
                </a:solidFill>
              </a:defRPr>
            </a:lvl2pPr>
            <a:lvl3pPr lvl="2" algn="ctr" rtl="0">
              <a:lnSpc>
                <a:spcPct val="100000"/>
              </a:lnSpc>
              <a:spcBef>
                <a:spcPts val="0"/>
              </a:spcBef>
              <a:spcAft>
                <a:spcPts val="0"/>
              </a:spcAft>
              <a:buClr>
                <a:schemeClr val="accent5"/>
              </a:buClr>
              <a:buSzPts val="2100"/>
              <a:buNone/>
              <a:defRPr sz="2100">
                <a:solidFill>
                  <a:schemeClr val="accent5"/>
                </a:solidFill>
              </a:defRPr>
            </a:lvl3pPr>
            <a:lvl4pPr lvl="3" algn="ctr" rtl="0">
              <a:lnSpc>
                <a:spcPct val="100000"/>
              </a:lnSpc>
              <a:spcBef>
                <a:spcPts val="0"/>
              </a:spcBef>
              <a:spcAft>
                <a:spcPts val="0"/>
              </a:spcAft>
              <a:buClr>
                <a:schemeClr val="accent5"/>
              </a:buClr>
              <a:buSzPts val="2100"/>
              <a:buNone/>
              <a:defRPr sz="2100">
                <a:solidFill>
                  <a:schemeClr val="accent5"/>
                </a:solidFill>
              </a:defRPr>
            </a:lvl4pPr>
            <a:lvl5pPr lvl="4" algn="ctr" rtl="0">
              <a:lnSpc>
                <a:spcPct val="100000"/>
              </a:lnSpc>
              <a:spcBef>
                <a:spcPts val="0"/>
              </a:spcBef>
              <a:spcAft>
                <a:spcPts val="0"/>
              </a:spcAft>
              <a:buClr>
                <a:schemeClr val="accent5"/>
              </a:buClr>
              <a:buSzPts val="2100"/>
              <a:buNone/>
              <a:defRPr sz="2100">
                <a:solidFill>
                  <a:schemeClr val="accent5"/>
                </a:solidFill>
              </a:defRPr>
            </a:lvl5pPr>
            <a:lvl6pPr lvl="5" algn="ctr" rtl="0">
              <a:lnSpc>
                <a:spcPct val="100000"/>
              </a:lnSpc>
              <a:spcBef>
                <a:spcPts val="0"/>
              </a:spcBef>
              <a:spcAft>
                <a:spcPts val="0"/>
              </a:spcAft>
              <a:buClr>
                <a:schemeClr val="accent5"/>
              </a:buClr>
              <a:buSzPts val="2100"/>
              <a:buNone/>
              <a:defRPr sz="2100">
                <a:solidFill>
                  <a:schemeClr val="accent5"/>
                </a:solidFill>
              </a:defRPr>
            </a:lvl6pPr>
            <a:lvl7pPr lvl="6" algn="ctr" rtl="0">
              <a:lnSpc>
                <a:spcPct val="100000"/>
              </a:lnSpc>
              <a:spcBef>
                <a:spcPts val="0"/>
              </a:spcBef>
              <a:spcAft>
                <a:spcPts val="0"/>
              </a:spcAft>
              <a:buClr>
                <a:schemeClr val="accent5"/>
              </a:buClr>
              <a:buSzPts val="2100"/>
              <a:buNone/>
              <a:defRPr sz="2100">
                <a:solidFill>
                  <a:schemeClr val="accent5"/>
                </a:solidFill>
              </a:defRPr>
            </a:lvl7pPr>
            <a:lvl8pPr lvl="7" algn="ctr" rtl="0">
              <a:lnSpc>
                <a:spcPct val="100000"/>
              </a:lnSpc>
              <a:spcBef>
                <a:spcPts val="0"/>
              </a:spcBef>
              <a:spcAft>
                <a:spcPts val="0"/>
              </a:spcAft>
              <a:buClr>
                <a:schemeClr val="accent5"/>
              </a:buClr>
              <a:buSzPts val="2100"/>
              <a:buNone/>
              <a:defRPr sz="2100">
                <a:solidFill>
                  <a:schemeClr val="accent5"/>
                </a:solidFill>
              </a:defRPr>
            </a:lvl8pPr>
            <a:lvl9pPr lvl="8" algn="ctr" rtl="0">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52" name="Google Shape;52;p10"/>
          <p:cNvSpPr txBox="1">
            <a:spLocks noGrp="1"/>
          </p:cNvSpPr>
          <p:nvPr>
            <p:ph type="body" idx="4"/>
          </p:nvPr>
        </p:nvSpPr>
        <p:spPr>
          <a:xfrm>
            <a:off x="4813725" y="3822525"/>
            <a:ext cx="3999900" cy="208200"/>
          </a:xfrm>
          <a:prstGeom prst="rect">
            <a:avLst/>
          </a:prstGeom>
        </p:spPr>
        <p:txBody>
          <a:bodyPr spcFirstLastPara="1" wrap="square" lIns="91425" tIns="91425" rIns="91425" bIns="91425" anchor="t" anchorCtr="0">
            <a:normAutofit/>
          </a:bodyPr>
          <a:lstStyle>
            <a:lvl1pPr marL="457200" lvl="0" indent="-273050" algn="r" rtl="0">
              <a:spcBef>
                <a:spcPts val="0"/>
              </a:spcBef>
              <a:spcAft>
                <a:spcPts val="0"/>
              </a:spcAft>
              <a:buSzPts val="700"/>
              <a:buChar char="●"/>
              <a:defRPr sz="700"/>
            </a:lvl1pPr>
            <a:lvl2pPr marL="914400" lvl="1" indent="-260350" algn="r" rtl="0">
              <a:spcBef>
                <a:spcPts val="0"/>
              </a:spcBef>
              <a:spcAft>
                <a:spcPts val="0"/>
              </a:spcAft>
              <a:buSzPts val="500"/>
              <a:buChar char="○"/>
              <a:defRPr sz="500"/>
            </a:lvl2pPr>
            <a:lvl3pPr marL="1371600" lvl="2" indent="-260350" algn="r" rtl="0">
              <a:spcBef>
                <a:spcPts val="0"/>
              </a:spcBef>
              <a:spcAft>
                <a:spcPts val="0"/>
              </a:spcAft>
              <a:buSzPts val="500"/>
              <a:buChar char="■"/>
              <a:defRPr sz="500"/>
            </a:lvl3pPr>
            <a:lvl4pPr marL="1828800" lvl="3" indent="-260350" algn="r" rtl="0">
              <a:spcBef>
                <a:spcPts val="0"/>
              </a:spcBef>
              <a:spcAft>
                <a:spcPts val="0"/>
              </a:spcAft>
              <a:buSzPts val="500"/>
              <a:buChar char="●"/>
              <a:defRPr sz="500"/>
            </a:lvl4pPr>
            <a:lvl5pPr marL="2286000" lvl="4" indent="-260350" algn="r" rtl="0">
              <a:spcBef>
                <a:spcPts val="0"/>
              </a:spcBef>
              <a:spcAft>
                <a:spcPts val="0"/>
              </a:spcAft>
              <a:buSzPts val="500"/>
              <a:buChar char="○"/>
              <a:defRPr sz="500"/>
            </a:lvl5pPr>
            <a:lvl6pPr marL="2743200" lvl="5" indent="-260350" algn="r" rtl="0">
              <a:spcBef>
                <a:spcPts val="0"/>
              </a:spcBef>
              <a:spcAft>
                <a:spcPts val="0"/>
              </a:spcAft>
              <a:buSzPts val="500"/>
              <a:buChar char="■"/>
              <a:defRPr sz="500"/>
            </a:lvl6pPr>
            <a:lvl7pPr marL="3200400" lvl="6" indent="-260350" algn="r" rtl="0">
              <a:spcBef>
                <a:spcPts val="0"/>
              </a:spcBef>
              <a:spcAft>
                <a:spcPts val="0"/>
              </a:spcAft>
              <a:buSzPts val="500"/>
              <a:buChar char="●"/>
              <a:defRPr sz="500"/>
            </a:lvl7pPr>
            <a:lvl8pPr marL="3657600" lvl="7" indent="-260350" algn="r" rtl="0">
              <a:spcBef>
                <a:spcPts val="0"/>
              </a:spcBef>
              <a:spcAft>
                <a:spcPts val="0"/>
              </a:spcAft>
              <a:buSzPts val="500"/>
              <a:buChar char="○"/>
              <a:defRPr sz="500"/>
            </a:lvl8pPr>
            <a:lvl9pPr marL="4114800" lvl="8" indent="-260350" algn="r" rtl="0">
              <a:spcBef>
                <a:spcPts val="0"/>
              </a:spcBef>
              <a:spcAft>
                <a:spcPts val="0"/>
              </a:spcAft>
              <a:buSzPts val="500"/>
              <a:buChar char="■"/>
              <a:defRPr sz="500"/>
            </a:lvl9pPr>
          </a:lstStyle>
          <a:p>
            <a:endParaRPr/>
          </a:p>
        </p:txBody>
      </p:sp>
      <p:sp>
        <p:nvSpPr>
          <p:cNvPr id="53" name="Google Shape;53;p10"/>
          <p:cNvSpPr txBox="1">
            <a:spLocks noGrp="1"/>
          </p:cNvSpPr>
          <p:nvPr>
            <p:ph type="sldNum" idx="5"/>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solidFill>
                  <a:schemeClr val="accent4"/>
                </a:solidFill>
              </a:defRPr>
            </a:lvl1pPr>
            <a:lvl2pPr lvl="1" rtl="0">
              <a:buNone/>
              <a:defRPr>
                <a:solidFill>
                  <a:schemeClr val="accent4"/>
                </a:solidFill>
              </a:defRPr>
            </a:lvl2pPr>
            <a:lvl3pPr lvl="2" rtl="0">
              <a:buNone/>
              <a:defRPr>
                <a:solidFill>
                  <a:schemeClr val="accent4"/>
                </a:solidFill>
              </a:defRPr>
            </a:lvl3pPr>
            <a:lvl4pPr lvl="3" rtl="0">
              <a:buNone/>
              <a:defRPr>
                <a:solidFill>
                  <a:schemeClr val="accent4"/>
                </a:solidFill>
              </a:defRPr>
            </a:lvl4pPr>
            <a:lvl5pPr lvl="4" rtl="0">
              <a:buNone/>
              <a:defRPr>
                <a:solidFill>
                  <a:schemeClr val="accent4"/>
                </a:solidFill>
              </a:defRPr>
            </a:lvl5pPr>
            <a:lvl6pPr lvl="5" rtl="0">
              <a:buNone/>
              <a:defRPr>
                <a:solidFill>
                  <a:schemeClr val="accent4"/>
                </a:solidFill>
              </a:defRPr>
            </a:lvl6pPr>
            <a:lvl7pPr lvl="6" rtl="0">
              <a:buNone/>
              <a:defRPr>
                <a:solidFill>
                  <a:schemeClr val="accent4"/>
                </a:solidFill>
              </a:defRPr>
            </a:lvl7pPr>
            <a:lvl8pPr lvl="7" rtl="0">
              <a:buNone/>
              <a:defRPr>
                <a:solidFill>
                  <a:schemeClr val="accent4"/>
                </a:solidFill>
              </a:defRPr>
            </a:lvl8pPr>
            <a:lvl9pPr lvl="8" rtl="0">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1"/>
          <p:cNvSpPr txBox="1">
            <a:spLocks noGrp="1"/>
          </p:cNvSpPr>
          <p:nvPr>
            <p:ph type="body" idx="1"/>
          </p:nvPr>
        </p:nvSpPr>
        <p:spPr>
          <a:xfrm>
            <a:off x="311700" y="42368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2"/>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2"/>
          <p:cNvSpPr txBox="1">
            <a:spLocks noGrp="1"/>
          </p:cNvSpPr>
          <p:nvPr>
            <p:ph type="title" hasCustomPrompt="1"/>
          </p:nvPr>
        </p:nvSpPr>
        <p:spPr>
          <a:xfrm>
            <a:off x="311700" y="991475"/>
            <a:ext cx="8520600" cy="1917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60" name="Google Shape;60;p12"/>
          <p:cNvSpPr txBox="1">
            <a:spLocks noGrp="1"/>
          </p:cNvSpPr>
          <p:nvPr>
            <p:ph type="body" idx="1"/>
          </p:nvPr>
        </p:nvSpPr>
        <p:spPr>
          <a:xfrm>
            <a:off x="311700" y="3071300"/>
            <a:ext cx="8520600" cy="901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pearmin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marL="914400" lvl="1"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marL="1371600" lvl="2"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marL="1828800" lvl="3"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marL="2286000" lvl="4"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marL="2743200" lvl="5"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marL="3200400" lvl="6"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marL="3657600" lvl="7"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marL="4114800" lvl="8"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27.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3EC39-76BD-2ACD-EC25-FF3837AB3AA9}"/>
              </a:ext>
            </a:extLst>
          </p:cNvPr>
          <p:cNvSpPr>
            <a:spLocks noGrp="1"/>
          </p:cNvSpPr>
          <p:nvPr>
            <p:ph type="ctrTitle"/>
          </p:nvPr>
        </p:nvSpPr>
        <p:spPr/>
        <p:txBody>
          <a:bodyPr/>
          <a:lstStyle/>
          <a:p>
            <a:r>
              <a:rPr lang="en-US" dirty="0"/>
              <a:t>Azure Banking Data Platform</a:t>
            </a:r>
          </a:p>
        </p:txBody>
      </p:sp>
      <p:sp>
        <p:nvSpPr>
          <p:cNvPr id="3" name="Subtitle 2">
            <a:extLst>
              <a:ext uri="{FF2B5EF4-FFF2-40B4-BE49-F238E27FC236}">
                <a16:creationId xmlns:a16="http://schemas.microsoft.com/office/drawing/2014/main" id="{2441DB43-209F-7875-C81F-AD53BA524E5D}"/>
              </a:ext>
            </a:extLst>
          </p:cNvPr>
          <p:cNvSpPr>
            <a:spLocks noGrp="1"/>
          </p:cNvSpPr>
          <p:nvPr>
            <p:ph type="subTitle" idx="1"/>
          </p:nvPr>
        </p:nvSpPr>
        <p:spPr>
          <a:xfrm>
            <a:off x="1214438" y="3182313"/>
            <a:ext cx="7419112" cy="839618"/>
          </a:xfrm>
        </p:spPr>
        <p:txBody>
          <a:bodyPr>
            <a:normAutofit fontScale="70000" lnSpcReduction="20000"/>
          </a:bodyPr>
          <a:lstStyle/>
          <a:p>
            <a:pPr lvl="6"/>
            <a:r>
              <a:rPr lang="en-US" b="1" dirty="0"/>
              <a:t>Presented by  :   </a:t>
            </a:r>
            <a:r>
              <a:rPr lang="en-US" dirty="0"/>
              <a:t>BATHULA BHANU PRASAD</a:t>
            </a:r>
          </a:p>
          <a:p>
            <a:pPr lvl="6"/>
            <a:r>
              <a:rPr lang="en-US" b="1" dirty="0"/>
              <a:t>Role                  : </a:t>
            </a:r>
            <a:r>
              <a:rPr lang="en-US" dirty="0"/>
              <a:t>  Data Engineer </a:t>
            </a:r>
          </a:p>
        </p:txBody>
      </p:sp>
    </p:spTree>
    <p:extLst>
      <p:ext uri="{BB962C8B-B14F-4D97-AF65-F5344CB8AC3E}">
        <p14:creationId xmlns:p14="http://schemas.microsoft.com/office/powerpoint/2010/main" val="1032160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End-to-End Enterprise Project Overview</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4151858"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200" y="1167555"/>
            <a:ext cx="4151858" cy="3424014"/>
          </a:xfrm>
          <a:prstGeom prst="rect">
            <a:avLst/>
          </a:prstGeom>
          <a:noFill/>
          <a:ln>
            <a:noFill/>
          </a:ln>
        </p:spPr>
        <p:txBody>
          <a:bodyPr wrap="square" lIns="165100" tIns="0" rIns="0" bIns="190500" anchor="t">
            <a:spAutoFit/>
          </a:bodyPr>
          <a:lstStyle/>
          <a:p>
            <a:pPr marL="228600" indent="-91440" algn="l">
              <a:spcBef>
                <a:spcPts val="0"/>
              </a:spcBef>
              <a:spcAft>
                <a:spcPts val="0"/>
              </a:spcAft>
              <a:buSzPct val="111111"/>
              <a:buFont typeface="Arial"/>
              <a:buChar char="•"/>
            </a:pPr>
            <a:r>
              <a:rPr sz="1500" b="1" i="0" dirty="0">
                <a:solidFill>
                  <a:srgbClr val="1F2728"/>
                </a:solidFill>
                <a:latin typeface="Roboto"/>
              </a:rPr>
              <a:t>Project Purpose:</a:t>
            </a:r>
            <a:r>
              <a:rPr sz="1500" b="0" i="0" dirty="0">
                <a:solidFill>
                  <a:srgbClr val="1F2728"/>
                </a:solidFill>
                <a:latin typeface="Roboto"/>
              </a:rPr>
              <a:t> To modernize the bank’s data infrastructure using Azure Cloud for real-time analytics, fraud detection, and regulatory reporting.</a:t>
            </a:r>
            <a:endParaRPr lang="en-US" sz="1500" b="0" i="0" dirty="0">
              <a:solidFill>
                <a:srgbClr val="1F2728"/>
              </a:solidFill>
              <a:latin typeface="Roboto"/>
            </a:endParaRPr>
          </a:p>
          <a:p>
            <a:pPr marL="137160" algn="l">
              <a:spcBef>
                <a:spcPts val="0"/>
              </a:spcBef>
              <a:spcAft>
                <a:spcPts val="0"/>
              </a:spcAft>
              <a:buSzPct val="111111"/>
            </a:pPr>
            <a:endParaRPr sz="1500" b="0" i="0" dirty="0">
              <a:solidFill>
                <a:srgbClr val="1F2728"/>
              </a:solidFill>
              <a:latin typeface="Roboto"/>
            </a:endParaRPr>
          </a:p>
          <a:p>
            <a:pPr marL="228600" lvl="1" indent="-91440" algn="l">
              <a:spcBef>
                <a:spcPts val="0"/>
              </a:spcBef>
              <a:spcAft>
                <a:spcPts val="0"/>
              </a:spcAft>
              <a:buSzPct val="111111"/>
              <a:buFont typeface="Arial"/>
              <a:buChar char="•"/>
            </a:pPr>
            <a:r>
              <a:rPr sz="1500" b="1" i="0" dirty="0">
                <a:solidFill>
                  <a:srgbClr val="1F2728"/>
                </a:solidFill>
                <a:latin typeface="Roboto"/>
              </a:rPr>
              <a:t>Technologies Used:</a:t>
            </a:r>
            <a:r>
              <a:rPr sz="1500" b="0" i="0" dirty="0">
                <a:solidFill>
                  <a:srgbClr val="1F2728"/>
                </a:solidFill>
                <a:latin typeface="Roboto"/>
              </a:rPr>
              <a:t> Azure Functions, ADLS Gen2, Cosmos DB, </a:t>
            </a:r>
            <a:r>
              <a:rPr lang="en-US" sz="1500" b="0" i="0" dirty="0">
                <a:solidFill>
                  <a:srgbClr val="1F2728"/>
                </a:solidFill>
                <a:latin typeface="Roboto"/>
              </a:rPr>
              <a:t>Databricks</a:t>
            </a:r>
            <a:r>
              <a:rPr sz="1500" b="0" i="0" dirty="0">
                <a:solidFill>
                  <a:srgbClr val="1F2728"/>
                </a:solidFill>
                <a:latin typeface="Roboto"/>
              </a:rPr>
              <a:t>, Event Grid, Service Bus,</a:t>
            </a:r>
            <a:r>
              <a:rPr lang="en-US" sz="1500" dirty="0">
                <a:solidFill>
                  <a:srgbClr val="1F2728"/>
                </a:solidFill>
                <a:latin typeface="Roboto"/>
              </a:rPr>
              <a:t> Azure SQL,</a:t>
            </a:r>
            <a:r>
              <a:rPr sz="1500" b="0" i="0" dirty="0">
                <a:solidFill>
                  <a:srgbClr val="1F2728"/>
                </a:solidFill>
                <a:latin typeface="Roboto"/>
              </a:rPr>
              <a:t> Python, </a:t>
            </a:r>
            <a:r>
              <a:rPr sz="1500" b="0" i="0" dirty="0" err="1">
                <a:solidFill>
                  <a:srgbClr val="1F2728"/>
                </a:solidFill>
                <a:latin typeface="Roboto"/>
              </a:rPr>
              <a:t>PySpark</a:t>
            </a:r>
            <a:r>
              <a:rPr sz="1500" b="0" i="0" dirty="0">
                <a:solidFill>
                  <a:srgbClr val="1F2728"/>
                </a:solidFill>
                <a:latin typeface="Roboto"/>
              </a:rPr>
              <a:t>, and CI/CD automation via GitHub Actions</a:t>
            </a:r>
            <a:r>
              <a:rPr lang="en-US" sz="1500" b="0" i="0" dirty="0">
                <a:solidFill>
                  <a:srgbClr val="1F2728"/>
                </a:solidFill>
                <a:latin typeface="Roboto"/>
              </a:rPr>
              <a:t>.</a:t>
            </a:r>
          </a:p>
          <a:p>
            <a:pPr marL="137160" lvl="1" algn="l">
              <a:spcBef>
                <a:spcPts val="0"/>
              </a:spcBef>
              <a:spcAft>
                <a:spcPts val="0"/>
              </a:spcAft>
              <a:buSzPct val="111111"/>
            </a:pPr>
            <a:endParaRPr sz="1500" b="0" i="0" dirty="0">
              <a:solidFill>
                <a:srgbClr val="1F2728"/>
              </a:solidFill>
              <a:latin typeface="Roboto"/>
            </a:endParaRPr>
          </a:p>
          <a:p>
            <a:pPr marL="228600" lvl="1" indent="-91440" algn="l">
              <a:spcBef>
                <a:spcPts val="0"/>
              </a:spcBef>
              <a:spcAft>
                <a:spcPts val="0"/>
              </a:spcAft>
              <a:buSzPct val="111111"/>
              <a:buFont typeface="Arial"/>
              <a:buChar char="•"/>
            </a:pPr>
            <a:r>
              <a:rPr sz="1500" b="1" i="0" dirty="0">
                <a:solidFill>
                  <a:srgbClr val="1F2728"/>
                </a:solidFill>
                <a:latin typeface="Roboto"/>
              </a:rPr>
              <a:t>Key Outcomes:</a:t>
            </a:r>
            <a:r>
              <a:rPr sz="1500" b="0" i="0" dirty="0">
                <a:solidFill>
                  <a:srgbClr val="1F2728"/>
                </a:solidFill>
                <a:latin typeface="Roboto"/>
              </a:rPr>
              <a:t> Unified data view, real-time risk mitigation, Customer 360 insights, compliance automation, and enterprise-grade security.</a:t>
            </a:r>
          </a:p>
        </p:txBody>
      </p:sp>
      <p:sp>
        <p:nvSpPr>
          <p:cNvPr id="12" name="Rectangle 11"/>
          <p:cNvSpPr/>
          <p:nvPr/>
        </p:nvSpPr>
        <p:spPr>
          <a:xfrm>
            <a:off x="4611141" y="1508670"/>
            <a:ext cx="4151858" cy="2605087"/>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611141" y="1508670"/>
            <a:ext cx="4151858" cy="2605087"/>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1141" y="1508670"/>
            <a:ext cx="4151858" cy="2337048"/>
          </a:xfrm>
          <a:prstGeom prst="rect">
            <a:avLst/>
          </a:prstGeom>
          <a:noFill/>
          <a:ln>
            <a:noFill/>
          </a:ln>
        </p:spPr>
        <p:txBody>
          <a:bodyPr wrap="square" lIns="0" tIns="0" rIns="0" bIns="0" anchor="t">
            <a:spAutoFit/>
          </a:bodyPr>
          <a:lstStyle/>
          <a:p>
            <a:pPr algn="l"/>
            <a:endParaRPr/>
          </a:p>
        </p:txBody>
      </p:sp>
      <p:pic>
        <p:nvPicPr>
          <p:cNvPr id="15" name="Picture 14" descr="tmp738lk50i.png"/>
          <p:cNvPicPr>
            <a:picLocks noChangeAspect="1"/>
          </p:cNvPicPr>
          <p:nvPr/>
        </p:nvPicPr>
        <p:blipFill>
          <a:blip r:embed="rId3"/>
          <a:stretch>
            <a:fillRect/>
          </a:stretch>
        </p:blipFill>
        <p:spPr>
          <a:xfrm>
            <a:off x="4611141" y="1508670"/>
            <a:ext cx="4151858" cy="2337048"/>
          </a:xfrm>
          <a:prstGeom prst="rect">
            <a:avLst/>
          </a:prstGeom>
        </p:spPr>
      </p:pic>
      <p:sp>
        <p:nvSpPr>
          <p:cNvPr id="16" name="Rectangle 15"/>
          <p:cNvSpPr/>
          <p:nvPr/>
        </p:nvSpPr>
        <p:spPr>
          <a:xfrm>
            <a:off x="4611141" y="3921918"/>
            <a:ext cx="4151858" cy="19169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Project Objectives &amp; Business Outcomes</a:t>
            </a:r>
          </a:p>
        </p:txBody>
      </p:sp>
      <p:sp>
        <p:nvSpPr>
          <p:cNvPr id="4" name="Subtitle 3"/>
          <p:cNvSpPr>
            <a:spLocks noGrp="1"/>
          </p:cNvSpPr>
          <p:nvPr>
            <p:ph type="subTitle" idx="13"/>
          </p:nvPr>
        </p:nvSpPr>
        <p:spPr/>
        <p:txBody>
          <a:bodyPr>
            <a:normAutofit/>
          </a:bodyPr>
          <a:lstStyle/>
          <a:p>
            <a:r>
              <a:t>Transforming Banking through Data Modernization</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2860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2860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2860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162175"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162175" y="1508670"/>
            <a:ext cx="304800" cy="304800"/>
          </a:xfrm>
          <a:prstGeom prst="rect">
            <a:avLst/>
          </a:prstGeom>
          <a:noFill/>
          <a:ln>
            <a:noFill/>
          </a:ln>
        </p:spPr>
        <p:txBody>
          <a:bodyPr wrap="square" lIns="0" tIns="0" rIns="0" bIns="0" anchor="t">
            <a:spAutoFit/>
          </a:bodyPr>
          <a:lstStyle/>
          <a:p>
            <a:pPr algn="ctr"/>
            <a:endParaRPr/>
          </a:p>
        </p:txBody>
      </p:sp>
      <p:pic>
        <p:nvPicPr>
          <p:cNvPr id="16" name="Picture 15" descr="tmphl_lkmbw.png"/>
          <p:cNvPicPr>
            <a:picLocks noChangeAspect="1"/>
          </p:cNvPicPr>
          <p:nvPr/>
        </p:nvPicPr>
        <p:blipFill>
          <a:blip r:embed="rId3"/>
          <a:stretch>
            <a:fillRect/>
          </a:stretch>
        </p:blipFill>
        <p:spPr>
          <a:xfrm>
            <a:off x="2162175" y="1508670"/>
            <a:ext cx="304800" cy="304800"/>
          </a:xfrm>
          <a:prstGeom prst="rect">
            <a:avLst/>
          </a:prstGeom>
        </p:spPr>
      </p:pic>
      <p:sp>
        <p:nvSpPr>
          <p:cNvPr id="17" name="TextBox 16"/>
          <p:cNvSpPr txBox="1"/>
          <p:nvPr/>
        </p:nvSpPr>
        <p:spPr>
          <a:xfrm>
            <a:off x="228600" y="1927770"/>
            <a:ext cx="4171950" cy="630942"/>
          </a:xfrm>
          <a:prstGeom prst="rect">
            <a:avLst/>
          </a:prstGeom>
          <a:noFill/>
          <a:ln>
            <a:noFill/>
          </a:ln>
        </p:spPr>
        <p:txBody>
          <a:bodyPr wrap="square" lIns="0" tIns="0" rIns="0" bIns="0" anchor="t">
            <a:spAutoFit/>
          </a:bodyPr>
          <a:lstStyle/>
          <a:p>
            <a:pPr algn="ctr"/>
            <a:r>
              <a:rPr sz="1300" b="1" i="0" dirty="0">
                <a:solidFill>
                  <a:srgbClr val="1F2728"/>
                </a:solidFill>
                <a:latin typeface="Roboto"/>
              </a:rPr>
              <a:t>Unified Data View</a:t>
            </a:r>
          </a:p>
          <a:p>
            <a:pPr algn="ctr">
              <a:spcAft>
                <a:spcPts val="1200"/>
              </a:spcAft>
            </a:pPr>
            <a:r>
              <a:rPr sz="1400" b="0" i="0" dirty="0">
                <a:solidFill>
                  <a:srgbClr val="1F2728"/>
                </a:solidFill>
                <a:latin typeface="Roboto"/>
              </a:rPr>
              <a:t>Integrate ATM</a:t>
            </a:r>
            <a:r>
              <a:rPr lang="en-US" dirty="0">
                <a:solidFill>
                  <a:srgbClr val="1F2728"/>
                </a:solidFill>
                <a:latin typeface="Roboto"/>
              </a:rPr>
              <a:t> and</a:t>
            </a:r>
            <a:r>
              <a:rPr sz="1400" b="0" i="0" dirty="0">
                <a:solidFill>
                  <a:srgbClr val="1F2728"/>
                </a:solidFill>
                <a:latin typeface="Roboto"/>
              </a:rPr>
              <a:t> UPI data into a single Azure-based data ecosystem for holistic visibility.</a:t>
            </a:r>
          </a:p>
        </p:txBody>
      </p:sp>
      <p:sp>
        <p:nvSpPr>
          <p:cNvPr id="18" name="Rectangle 17"/>
          <p:cNvSpPr/>
          <p:nvPr/>
        </p:nvSpPr>
        <p:spPr>
          <a:xfrm>
            <a:off x="459105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9105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9105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524625"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24625" y="1508670"/>
            <a:ext cx="304800" cy="304800"/>
          </a:xfrm>
          <a:prstGeom prst="rect">
            <a:avLst/>
          </a:prstGeom>
          <a:noFill/>
          <a:ln>
            <a:noFill/>
          </a:ln>
        </p:spPr>
        <p:txBody>
          <a:bodyPr wrap="square" lIns="0" tIns="0" rIns="0" bIns="0" anchor="t">
            <a:spAutoFit/>
          </a:bodyPr>
          <a:lstStyle/>
          <a:p>
            <a:pPr algn="ctr"/>
            <a:endParaRPr/>
          </a:p>
        </p:txBody>
      </p:sp>
      <p:pic>
        <p:nvPicPr>
          <p:cNvPr id="23" name="Picture 22" descr="tmp_aguzhjq.png"/>
          <p:cNvPicPr>
            <a:picLocks noChangeAspect="1"/>
          </p:cNvPicPr>
          <p:nvPr/>
        </p:nvPicPr>
        <p:blipFill>
          <a:blip r:embed="rId4"/>
          <a:stretch>
            <a:fillRect/>
          </a:stretch>
        </p:blipFill>
        <p:spPr>
          <a:xfrm>
            <a:off x="6524625" y="1508670"/>
            <a:ext cx="304800" cy="304800"/>
          </a:xfrm>
          <a:prstGeom prst="rect">
            <a:avLst/>
          </a:prstGeom>
        </p:spPr>
      </p:pic>
      <p:sp>
        <p:nvSpPr>
          <p:cNvPr id="24" name="TextBox 23"/>
          <p:cNvSpPr txBox="1"/>
          <p:nvPr/>
        </p:nvSpPr>
        <p:spPr>
          <a:xfrm>
            <a:off x="4591050" y="1927770"/>
            <a:ext cx="4171950" cy="228600"/>
          </a:xfrm>
          <a:prstGeom prst="rect">
            <a:avLst/>
          </a:prstGeom>
          <a:noFill/>
          <a:ln>
            <a:noFill/>
          </a:ln>
        </p:spPr>
        <p:txBody>
          <a:bodyPr wrap="square" lIns="0" tIns="0" rIns="0" bIns="0" anchor="t">
            <a:spAutoFit/>
          </a:bodyPr>
          <a:lstStyle/>
          <a:p>
            <a:pPr algn="ctr"/>
            <a:r>
              <a:rPr sz="1300" b="1" i="0">
                <a:solidFill>
                  <a:srgbClr val="1F2728"/>
                </a:solidFill>
                <a:latin typeface="Roboto"/>
              </a:rPr>
              <a:t>Real-Time Fraud Detection</a:t>
            </a:r>
          </a:p>
          <a:p>
            <a:pPr algn="ctr">
              <a:spcAft>
                <a:spcPts val="1200"/>
              </a:spcAft>
            </a:pPr>
            <a:r>
              <a:rPr sz="1400" b="0" i="0">
                <a:solidFill>
                  <a:srgbClr val="1F2728"/>
                </a:solidFill>
                <a:latin typeface="Roboto"/>
              </a:rPr>
              <a:t>Leverage event-driven architectures and Azure Functions to detect and mitigate suspicious transactions instantly.</a:t>
            </a:r>
          </a:p>
        </p:txBody>
      </p:sp>
      <p:sp>
        <p:nvSpPr>
          <p:cNvPr id="25" name="Rectangle 24"/>
          <p:cNvSpPr/>
          <p:nvPr/>
        </p:nvSpPr>
        <p:spPr>
          <a:xfrm>
            <a:off x="228600" y="3276153"/>
            <a:ext cx="4171950" cy="157698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2860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2860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162175" y="3276153"/>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162175" y="3276153"/>
            <a:ext cx="304800" cy="304800"/>
          </a:xfrm>
          <a:prstGeom prst="rect">
            <a:avLst/>
          </a:prstGeom>
          <a:noFill/>
          <a:ln>
            <a:noFill/>
          </a:ln>
        </p:spPr>
        <p:txBody>
          <a:bodyPr wrap="square" lIns="0" tIns="0" rIns="0" bIns="0" anchor="t">
            <a:spAutoFit/>
          </a:bodyPr>
          <a:lstStyle/>
          <a:p>
            <a:pPr algn="ctr"/>
            <a:endParaRPr/>
          </a:p>
        </p:txBody>
      </p:sp>
      <p:pic>
        <p:nvPicPr>
          <p:cNvPr id="30" name="Picture 29" descr="tmpxdon_oh4.png"/>
          <p:cNvPicPr>
            <a:picLocks noChangeAspect="1"/>
          </p:cNvPicPr>
          <p:nvPr/>
        </p:nvPicPr>
        <p:blipFill>
          <a:blip r:embed="rId5"/>
          <a:stretch>
            <a:fillRect/>
          </a:stretch>
        </p:blipFill>
        <p:spPr>
          <a:xfrm>
            <a:off x="2162175" y="3276153"/>
            <a:ext cx="304800" cy="304800"/>
          </a:xfrm>
          <a:prstGeom prst="rect">
            <a:avLst/>
          </a:prstGeom>
        </p:spPr>
      </p:pic>
      <p:sp>
        <p:nvSpPr>
          <p:cNvPr id="31" name="TextBox 30"/>
          <p:cNvSpPr txBox="1"/>
          <p:nvPr/>
        </p:nvSpPr>
        <p:spPr>
          <a:xfrm>
            <a:off x="228600" y="3695253"/>
            <a:ext cx="4171950" cy="228600"/>
          </a:xfrm>
          <a:prstGeom prst="rect">
            <a:avLst/>
          </a:prstGeom>
          <a:noFill/>
          <a:ln>
            <a:noFill/>
          </a:ln>
        </p:spPr>
        <p:txBody>
          <a:bodyPr wrap="square" lIns="0" tIns="0" rIns="0" bIns="0" anchor="t">
            <a:spAutoFit/>
          </a:bodyPr>
          <a:lstStyle/>
          <a:p>
            <a:pPr algn="ctr"/>
            <a:r>
              <a:rPr sz="1300" b="1" i="0">
                <a:solidFill>
                  <a:srgbClr val="1F2728"/>
                </a:solidFill>
                <a:latin typeface="Roboto"/>
              </a:rPr>
              <a:t>Customer 360 Insights</a:t>
            </a:r>
          </a:p>
          <a:p>
            <a:pPr algn="ctr">
              <a:spcAft>
                <a:spcPts val="1200"/>
              </a:spcAft>
            </a:pPr>
            <a:r>
              <a:rPr sz="1400" b="0" i="0">
                <a:solidFill>
                  <a:srgbClr val="1F2728"/>
                </a:solidFill>
                <a:latin typeface="Roboto"/>
              </a:rPr>
              <a:t>Develop a comprehensive view of each customer to enhance engagement, predict churn, and personalize offers.</a:t>
            </a:r>
          </a:p>
        </p:txBody>
      </p:sp>
      <p:sp>
        <p:nvSpPr>
          <p:cNvPr id="32" name="Rectangle 31"/>
          <p:cNvSpPr/>
          <p:nvPr/>
        </p:nvSpPr>
        <p:spPr>
          <a:xfrm>
            <a:off x="4591050" y="3276153"/>
            <a:ext cx="4171950" cy="157698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9105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59105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524625" y="3276153"/>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24625" y="3276153"/>
            <a:ext cx="304800" cy="304800"/>
          </a:xfrm>
          <a:prstGeom prst="rect">
            <a:avLst/>
          </a:prstGeom>
          <a:noFill/>
          <a:ln>
            <a:noFill/>
          </a:ln>
        </p:spPr>
        <p:txBody>
          <a:bodyPr wrap="square" lIns="0" tIns="0" rIns="0" bIns="0" anchor="t">
            <a:spAutoFit/>
          </a:bodyPr>
          <a:lstStyle/>
          <a:p>
            <a:pPr algn="ctr"/>
            <a:endParaRPr/>
          </a:p>
        </p:txBody>
      </p:sp>
      <p:pic>
        <p:nvPicPr>
          <p:cNvPr id="37" name="Picture 36" descr="tmpibxrv4__.png"/>
          <p:cNvPicPr>
            <a:picLocks noChangeAspect="1"/>
          </p:cNvPicPr>
          <p:nvPr/>
        </p:nvPicPr>
        <p:blipFill>
          <a:blip r:embed="rId6"/>
          <a:stretch>
            <a:fillRect/>
          </a:stretch>
        </p:blipFill>
        <p:spPr>
          <a:xfrm>
            <a:off x="6524625" y="3276153"/>
            <a:ext cx="304800" cy="304800"/>
          </a:xfrm>
          <a:prstGeom prst="rect">
            <a:avLst/>
          </a:prstGeom>
        </p:spPr>
      </p:pic>
      <p:sp>
        <p:nvSpPr>
          <p:cNvPr id="38" name="TextBox 37"/>
          <p:cNvSpPr txBox="1"/>
          <p:nvPr/>
        </p:nvSpPr>
        <p:spPr>
          <a:xfrm>
            <a:off x="4591050" y="3695253"/>
            <a:ext cx="4171950" cy="228600"/>
          </a:xfrm>
          <a:prstGeom prst="rect">
            <a:avLst/>
          </a:prstGeom>
          <a:noFill/>
          <a:ln>
            <a:noFill/>
          </a:ln>
        </p:spPr>
        <p:txBody>
          <a:bodyPr wrap="square" lIns="0" tIns="0" rIns="0" bIns="0" anchor="t">
            <a:spAutoFit/>
          </a:bodyPr>
          <a:lstStyle/>
          <a:p>
            <a:pPr algn="ctr"/>
            <a:r>
              <a:rPr sz="1300" b="1" i="0">
                <a:solidFill>
                  <a:srgbClr val="1F2728"/>
                </a:solidFill>
                <a:latin typeface="Roboto"/>
              </a:rPr>
              <a:t>Regulatory Compliance</a:t>
            </a:r>
          </a:p>
          <a:p>
            <a:pPr algn="ctr">
              <a:spcAft>
                <a:spcPts val="1200"/>
              </a:spcAft>
            </a:pPr>
            <a:r>
              <a:rPr sz="1400" b="0" i="0">
                <a:solidFill>
                  <a:srgbClr val="1F2728"/>
                </a:solidFill>
                <a:latin typeface="Roboto"/>
              </a:rPr>
              <a:t>Automate data warehousing and reporting pipelines to meet RBI and financial compliance standards efficiently.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Architecture Overview</a:t>
            </a:r>
          </a:p>
        </p:txBody>
      </p:sp>
      <p:sp>
        <p:nvSpPr>
          <p:cNvPr id="4" name="Subtitle 3"/>
          <p:cNvSpPr>
            <a:spLocks noGrp="1"/>
          </p:cNvSpPr>
          <p:nvPr>
            <p:ph type="subTitle" idx="13"/>
          </p:nvPr>
        </p:nvSpPr>
        <p:spPr/>
        <p:txBody>
          <a:bodyPr>
            <a:normAutofit/>
          </a:bodyPr>
          <a:lstStyle/>
          <a:p>
            <a:r>
              <a:rPr dirty="0"/>
              <a:t>Batch Data Processing</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4157364" cy="334506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8600" y="1508670"/>
            <a:ext cx="4157364" cy="1700466"/>
          </a:xfrm>
          <a:prstGeom prst="rect">
            <a:avLst/>
          </a:prstGeom>
          <a:noFill/>
          <a:ln>
            <a:noFill/>
          </a:ln>
        </p:spPr>
        <p:txBody>
          <a:bodyPr wrap="square" lIns="165100" tIns="0" rIns="0" bIns="190500" anchor="t">
            <a:spAutoFit/>
          </a:bodyPr>
          <a:lstStyle/>
          <a:p>
            <a:pPr marL="228600" lvl="1" indent="-91440" algn="l">
              <a:spcBef>
                <a:spcPts val="0"/>
              </a:spcBef>
              <a:spcAft>
                <a:spcPts val="0"/>
              </a:spcAft>
              <a:buSzPct val="111111"/>
              <a:buFont typeface="Arial"/>
              <a:buChar char="•"/>
            </a:pPr>
            <a:r>
              <a:rPr sz="1400" b="1" i="0" dirty="0">
                <a:solidFill>
                  <a:srgbClr val="1F2728"/>
                </a:solidFill>
                <a:latin typeface="Roboto"/>
              </a:rPr>
              <a:t>Event-Driven Design:</a:t>
            </a:r>
            <a:r>
              <a:rPr sz="1400" b="0" i="0" dirty="0">
                <a:solidFill>
                  <a:srgbClr val="1F2728"/>
                </a:solidFill>
                <a:latin typeface="Roboto"/>
              </a:rPr>
              <a:t> Uses Azure Event Grid and Service Bus for asynchronous ingestion of high-volume banking transactions.</a:t>
            </a:r>
            <a:endParaRPr lang="en-US" sz="1400" b="0" i="0" dirty="0">
              <a:solidFill>
                <a:srgbClr val="1F2728"/>
              </a:solidFill>
              <a:latin typeface="Roboto"/>
            </a:endParaRPr>
          </a:p>
          <a:p>
            <a:pPr marL="137160" lvl="1"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Unified Analytics Layer:</a:t>
            </a:r>
            <a:r>
              <a:rPr sz="1400" b="0" i="0" dirty="0">
                <a:solidFill>
                  <a:srgbClr val="1F2728"/>
                </a:solidFill>
                <a:latin typeface="Roboto"/>
              </a:rPr>
              <a:t> Azure </a:t>
            </a:r>
            <a:r>
              <a:rPr lang="en-US" dirty="0">
                <a:solidFill>
                  <a:srgbClr val="1F2728"/>
                </a:solidFill>
                <a:latin typeface="Roboto"/>
              </a:rPr>
              <a:t>Databricks</a:t>
            </a:r>
            <a:r>
              <a:rPr sz="1400" b="0" i="0" dirty="0">
                <a:solidFill>
                  <a:srgbClr val="1F2728"/>
                </a:solidFill>
                <a:latin typeface="Roboto"/>
              </a:rPr>
              <a:t> and Power BI serve as the unified analytical layer combining historical and real-time insights.</a:t>
            </a:r>
          </a:p>
        </p:txBody>
      </p:sp>
      <p:sp>
        <p:nvSpPr>
          <p:cNvPr id="12" name="Rectangle 11"/>
          <p:cNvSpPr/>
          <p:nvPr/>
        </p:nvSpPr>
        <p:spPr>
          <a:xfrm>
            <a:off x="4605188" y="1508670"/>
            <a:ext cx="4157662" cy="260478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605188" y="1508670"/>
            <a:ext cx="4157662" cy="260478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05188" y="1508670"/>
            <a:ext cx="4157662" cy="2340322"/>
          </a:xfrm>
          <a:prstGeom prst="rect">
            <a:avLst/>
          </a:prstGeom>
          <a:noFill/>
          <a:ln>
            <a:noFill/>
          </a:ln>
        </p:spPr>
        <p:txBody>
          <a:bodyPr wrap="square" lIns="0" tIns="0" rIns="0" bIns="0" anchor="t">
            <a:spAutoFit/>
          </a:bodyPr>
          <a:lstStyle/>
          <a:p>
            <a:pPr algn="l"/>
            <a:endParaRPr/>
          </a:p>
        </p:txBody>
      </p:sp>
      <p:pic>
        <p:nvPicPr>
          <p:cNvPr id="15" name="Picture 14" descr="tmp1_w4jiyi.png"/>
          <p:cNvPicPr>
            <a:picLocks noChangeAspect="1"/>
          </p:cNvPicPr>
          <p:nvPr/>
        </p:nvPicPr>
        <p:blipFill>
          <a:blip r:embed="rId3"/>
          <a:stretch>
            <a:fillRect/>
          </a:stretch>
        </p:blipFill>
        <p:spPr>
          <a:xfrm>
            <a:off x="4605188" y="1508670"/>
            <a:ext cx="4157662" cy="2340322"/>
          </a:xfrm>
          <a:prstGeom prst="rect">
            <a:avLst/>
          </a:prstGeom>
        </p:spPr>
      </p:pic>
      <p:sp>
        <p:nvSpPr>
          <p:cNvPr id="16" name="Rectangle 15"/>
          <p:cNvSpPr/>
          <p:nvPr/>
        </p:nvSpPr>
        <p:spPr>
          <a:xfrm>
            <a:off x="4605188" y="3925192"/>
            <a:ext cx="4157662" cy="188118"/>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Data Ingestion Layer</a:t>
            </a:r>
          </a:p>
        </p:txBody>
      </p:sp>
      <p:sp>
        <p:nvSpPr>
          <p:cNvPr id="4" name="Subtitle 3"/>
          <p:cNvSpPr>
            <a:spLocks noGrp="1"/>
          </p:cNvSpPr>
          <p:nvPr>
            <p:ph type="subTitle" idx="13"/>
          </p:nvPr>
        </p:nvSpPr>
        <p:spPr/>
        <p:txBody>
          <a:bodyPr>
            <a:normAutofit/>
          </a:bodyPr>
          <a:lstStyle/>
          <a:p>
            <a:r>
              <a:rPr dirty="0"/>
              <a:t>Batch Data Flow Integration</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4172694" cy="334833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8600" y="1508670"/>
            <a:ext cx="4172694" cy="2593018"/>
          </a:xfrm>
          <a:prstGeom prst="rect">
            <a:avLst/>
          </a:prstGeom>
          <a:noFill/>
          <a:ln>
            <a:noFill/>
          </a:ln>
        </p:spPr>
        <p:txBody>
          <a:bodyPr wrap="square" lIns="165100" tIns="0" rIns="0" bIns="190500" anchor="t">
            <a:spAutoFit/>
          </a:bodyPr>
          <a:lstStyle/>
          <a:p>
            <a:pPr marL="228600" indent="-91440" algn="l">
              <a:spcBef>
                <a:spcPts val="0"/>
              </a:spcBef>
              <a:spcAft>
                <a:spcPts val="0"/>
              </a:spcAft>
              <a:buSzPct val="100000"/>
              <a:buFont typeface="Arial"/>
              <a:buChar char="•"/>
            </a:pPr>
            <a:r>
              <a:rPr sz="1300" b="1" i="0" dirty="0">
                <a:solidFill>
                  <a:srgbClr val="1F2728"/>
                </a:solidFill>
                <a:latin typeface="Roboto"/>
              </a:rPr>
              <a:t>Real-Time Streams:</a:t>
            </a:r>
            <a:r>
              <a:rPr sz="1300" b="0" i="0" dirty="0">
                <a:solidFill>
                  <a:srgbClr val="1F2728"/>
                </a:solidFill>
                <a:latin typeface="Roboto"/>
              </a:rPr>
              <a:t> Ingests ATM </a:t>
            </a:r>
            <a:r>
              <a:rPr lang="en-US" sz="1300" b="0" i="0" dirty="0">
                <a:solidFill>
                  <a:srgbClr val="1F2728"/>
                </a:solidFill>
                <a:latin typeface="Roboto"/>
              </a:rPr>
              <a:t>and </a:t>
            </a:r>
            <a:r>
              <a:rPr sz="1300" b="0" i="0" dirty="0">
                <a:solidFill>
                  <a:srgbClr val="1F2728"/>
                </a:solidFill>
                <a:latin typeface="Roboto"/>
              </a:rPr>
              <a:t>UPI events through Azure Event Grid and Service Bus for immediate availability.</a:t>
            </a:r>
            <a:endParaRPr lang="en-US" sz="1300" b="0" i="0" dirty="0">
              <a:solidFill>
                <a:srgbClr val="1F2728"/>
              </a:solidFill>
              <a:latin typeface="Roboto"/>
            </a:endParaRPr>
          </a:p>
          <a:p>
            <a:pPr marL="137160" algn="l">
              <a:spcBef>
                <a:spcPts val="0"/>
              </a:spcBef>
              <a:spcAft>
                <a:spcPts val="0"/>
              </a:spcAft>
              <a:buSzPct val="100000"/>
            </a:pPr>
            <a:endParaRPr sz="1300" b="0" i="0" dirty="0">
              <a:solidFill>
                <a:srgbClr val="1F2728"/>
              </a:solidFill>
              <a:latin typeface="Roboto"/>
            </a:endParaRPr>
          </a:p>
          <a:p>
            <a:pPr marL="228600" lvl="1" indent="-91440" algn="l">
              <a:spcBef>
                <a:spcPts val="0"/>
              </a:spcBef>
              <a:spcAft>
                <a:spcPts val="0"/>
              </a:spcAft>
              <a:buSzPct val="100000"/>
              <a:buFont typeface="Arial"/>
              <a:buChar char="•"/>
            </a:pPr>
            <a:r>
              <a:rPr sz="1300" b="1" i="0" dirty="0">
                <a:solidFill>
                  <a:srgbClr val="1F2728"/>
                </a:solidFill>
                <a:latin typeface="Roboto"/>
              </a:rPr>
              <a:t>Batch Data Loads:</a:t>
            </a:r>
            <a:r>
              <a:rPr sz="1300" b="0" i="0" dirty="0">
                <a:solidFill>
                  <a:srgbClr val="1F2728"/>
                </a:solidFill>
                <a:latin typeface="Roboto"/>
              </a:rPr>
              <a:t> Processes daily core banking extracts and KYC data using ADLS Gen2 and Azure Data Factory.</a:t>
            </a:r>
            <a:endParaRPr lang="en-US" sz="1300" b="0" i="0" dirty="0">
              <a:solidFill>
                <a:srgbClr val="1F2728"/>
              </a:solidFill>
              <a:latin typeface="Roboto"/>
            </a:endParaRPr>
          </a:p>
          <a:p>
            <a:pPr marL="137160" lvl="1" algn="l">
              <a:spcBef>
                <a:spcPts val="0"/>
              </a:spcBef>
              <a:spcAft>
                <a:spcPts val="0"/>
              </a:spcAft>
              <a:buSzPct val="100000"/>
            </a:pPr>
            <a:endParaRPr sz="1300" b="0" i="0" dirty="0">
              <a:solidFill>
                <a:srgbClr val="1F2728"/>
              </a:solidFill>
              <a:latin typeface="Roboto"/>
            </a:endParaRPr>
          </a:p>
          <a:p>
            <a:pPr marL="228600" lvl="1" indent="-91440" algn="l">
              <a:spcBef>
                <a:spcPts val="0"/>
              </a:spcBef>
              <a:spcAft>
                <a:spcPts val="0"/>
              </a:spcAft>
              <a:buSzPct val="100000"/>
              <a:buFont typeface="Arial"/>
              <a:buChar char="•"/>
            </a:pPr>
            <a:r>
              <a:rPr sz="1300" b="1" i="0" dirty="0">
                <a:solidFill>
                  <a:srgbClr val="1F2728"/>
                </a:solidFill>
                <a:latin typeface="Roboto"/>
              </a:rPr>
              <a:t>Validation and Transformation:</a:t>
            </a:r>
            <a:r>
              <a:rPr sz="1300" b="0" i="0" dirty="0">
                <a:solidFill>
                  <a:srgbClr val="1F2728"/>
                </a:solidFill>
                <a:latin typeface="Roboto"/>
              </a:rPr>
              <a:t> Python Azure Functions perform schema validation, de-duplication, and enrichment before data persistence.</a:t>
            </a:r>
          </a:p>
        </p:txBody>
      </p:sp>
      <p:sp>
        <p:nvSpPr>
          <p:cNvPr id="12" name="Rectangle 11"/>
          <p:cNvSpPr/>
          <p:nvPr/>
        </p:nvSpPr>
        <p:spPr>
          <a:xfrm>
            <a:off x="4589710" y="1508670"/>
            <a:ext cx="4173140" cy="259213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89710" y="1508670"/>
            <a:ext cx="4173140" cy="259213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89710" y="1508670"/>
            <a:ext cx="4173140" cy="2349251"/>
          </a:xfrm>
          <a:prstGeom prst="rect">
            <a:avLst/>
          </a:prstGeom>
          <a:noFill/>
          <a:ln>
            <a:noFill/>
          </a:ln>
        </p:spPr>
        <p:txBody>
          <a:bodyPr wrap="square" lIns="0" tIns="0" rIns="0" bIns="0" anchor="t">
            <a:spAutoFit/>
          </a:bodyPr>
          <a:lstStyle/>
          <a:p>
            <a:pPr algn="l"/>
            <a:endParaRPr/>
          </a:p>
        </p:txBody>
      </p:sp>
      <p:pic>
        <p:nvPicPr>
          <p:cNvPr id="15" name="Picture 14" descr="tmprop9pifh.png"/>
          <p:cNvPicPr>
            <a:picLocks noChangeAspect="1"/>
          </p:cNvPicPr>
          <p:nvPr/>
        </p:nvPicPr>
        <p:blipFill>
          <a:blip r:embed="rId3"/>
          <a:stretch>
            <a:fillRect/>
          </a:stretch>
        </p:blipFill>
        <p:spPr>
          <a:xfrm>
            <a:off x="4589710" y="1508670"/>
            <a:ext cx="4173140" cy="2349251"/>
          </a:xfrm>
          <a:prstGeom prst="rect">
            <a:avLst/>
          </a:prstGeom>
        </p:spPr>
      </p:pic>
      <p:sp>
        <p:nvSpPr>
          <p:cNvPr id="16" name="Rectangle 15"/>
          <p:cNvSpPr/>
          <p:nvPr/>
        </p:nvSpPr>
        <p:spPr>
          <a:xfrm>
            <a:off x="4589710" y="3934122"/>
            <a:ext cx="4173140" cy="166687"/>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Source Systems Integration</a:t>
            </a:r>
          </a:p>
        </p:txBody>
      </p:sp>
      <p:sp>
        <p:nvSpPr>
          <p:cNvPr id="4" name="Subtitle 3"/>
          <p:cNvSpPr>
            <a:spLocks noGrp="1"/>
          </p:cNvSpPr>
          <p:nvPr>
            <p:ph type="subTitle" idx="13"/>
          </p:nvPr>
        </p:nvSpPr>
        <p:spPr/>
        <p:txBody>
          <a:bodyPr>
            <a:normAutofit/>
          </a:bodyPr>
          <a:lstStyle/>
          <a:p>
            <a:r>
              <a:rPr dirty="0"/>
              <a:t>ATM, UPI</a:t>
            </a:r>
            <a:r>
              <a:rPr lang="en-US" dirty="0"/>
              <a:t> </a:t>
            </a:r>
            <a:r>
              <a:rPr dirty="0"/>
              <a:t>and Core Banking Data Feeds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4172694"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8600" y="1508670"/>
            <a:ext cx="4172694" cy="2993127"/>
          </a:xfrm>
          <a:prstGeom prst="rect">
            <a:avLst/>
          </a:prstGeom>
          <a:noFill/>
          <a:ln>
            <a:noFill/>
          </a:ln>
        </p:spPr>
        <p:txBody>
          <a:bodyPr wrap="square" lIns="165100" tIns="0" rIns="0" bIns="190500" anchor="t">
            <a:spAutoFit/>
          </a:bodyPr>
          <a:lstStyle/>
          <a:p>
            <a:pPr marL="228600" indent="-91440" algn="l">
              <a:spcBef>
                <a:spcPts val="0"/>
              </a:spcBef>
              <a:spcAft>
                <a:spcPts val="0"/>
              </a:spcAft>
              <a:buSzPct val="100000"/>
              <a:buFont typeface="Arial"/>
              <a:buChar char="•"/>
            </a:pPr>
            <a:r>
              <a:rPr sz="1300" b="1" i="0" dirty="0">
                <a:solidFill>
                  <a:srgbClr val="1F2728"/>
                </a:solidFill>
                <a:latin typeface="Roboto"/>
              </a:rPr>
              <a:t>Real-Time Channels:</a:t>
            </a:r>
            <a:r>
              <a:rPr sz="1300" b="0" i="0" dirty="0">
                <a:solidFill>
                  <a:srgbClr val="1F2728"/>
                </a:solidFill>
                <a:latin typeface="Roboto"/>
              </a:rPr>
              <a:t> ATM withdrawal logs</a:t>
            </a:r>
            <a:r>
              <a:rPr lang="en-US" sz="1300" b="0" i="0" dirty="0">
                <a:solidFill>
                  <a:srgbClr val="1F2728"/>
                </a:solidFill>
                <a:latin typeface="Roboto"/>
              </a:rPr>
              <a:t> and</a:t>
            </a:r>
            <a:r>
              <a:rPr sz="1300" b="0" i="0" dirty="0">
                <a:solidFill>
                  <a:srgbClr val="1F2728"/>
                </a:solidFill>
                <a:latin typeface="Roboto"/>
              </a:rPr>
              <a:t> UPI debit/credit events</a:t>
            </a:r>
            <a:r>
              <a:rPr lang="en-US" sz="1300" dirty="0">
                <a:solidFill>
                  <a:srgbClr val="1F2728"/>
                </a:solidFill>
                <a:latin typeface="Roboto"/>
              </a:rPr>
              <a:t> </a:t>
            </a:r>
            <a:r>
              <a:rPr sz="1300" b="0" i="0" dirty="0">
                <a:solidFill>
                  <a:srgbClr val="1F2728"/>
                </a:solidFill>
                <a:latin typeface="Roboto"/>
              </a:rPr>
              <a:t>streamed for instant visibility.</a:t>
            </a:r>
            <a:endParaRPr lang="en-US" sz="1300" b="0" i="0" dirty="0">
              <a:solidFill>
                <a:srgbClr val="1F2728"/>
              </a:solidFill>
              <a:latin typeface="Roboto"/>
            </a:endParaRPr>
          </a:p>
          <a:p>
            <a:pPr marL="137160" algn="l">
              <a:spcBef>
                <a:spcPts val="0"/>
              </a:spcBef>
              <a:spcAft>
                <a:spcPts val="0"/>
              </a:spcAft>
              <a:buSzPct val="100000"/>
            </a:pPr>
            <a:endParaRPr sz="1300" b="0" i="0" dirty="0">
              <a:solidFill>
                <a:srgbClr val="1F2728"/>
              </a:solidFill>
              <a:latin typeface="Roboto"/>
            </a:endParaRPr>
          </a:p>
          <a:p>
            <a:pPr marL="228600" lvl="1" indent="-91440" algn="l">
              <a:spcBef>
                <a:spcPts val="0"/>
              </a:spcBef>
              <a:spcAft>
                <a:spcPts val="0"/>
              </a:spcAft>
              <a:buSzPct val="100000"/>
              <a:buFont typeface="Arial"/>
              <a:buChar char="•"/>
            </a:pPr>
            <a:r>
              <a:rPr sz="1300" b="1" i="0" dirty="0">
                <a:solidFill>
                  <a:srgbClr val="1F2728"/>
                </a:solidFill>
                <a:latin typeface="Roboto"/>
              </a:rPr>
              <a:t>Batch Data Sources:</a:t>
            </a:r>
            <a:r>
              <a:rPr sz="1300" b="0" i="0" dirty="0">
                <a:solidFill>
                  <a:srgbClr val="1F2728"/>
                </a:solidFill>
                <a:latin typeface="Roboto"/>
              </a:rPr>
              <a:t> Core banking system daily extracts, account master updates, and KYC document storage pipelines.</a:t>
            </a:r>
            <a:endParaRPr lang="en-US" sz="1300" b="0" i="0" dirty="0">
              <a:solidFill>
                <a:srgbClr val="1F2728"/>
              </a:solidFill>
              <a:latin typeface="Roboto"/>
            </a:endParaRPr>
          </a:p>
          <a:p>
            <a:pPr marL="137160" lvl="1" algn="l">
              <a:spcBef>
                <a:spcPts val="0"/>
              </a:spcBef>
              <a:spcAft>
                <a:spcPts val="0"/>
              </a:spcAft>
              <a:buSzPct val="100000"/>
            </a:pPr>
            <a:endParaRPr sz="1300" b="0" i="0" dirty="0">
              <a:solidFill>
                <a:srgbClr val="1F2728"/>
              </a:solidFill>
              <a:latin typeface="Roboto"/>
            </a:endParaRPr>
          </a:p>
          <a:p>
            <a:pPr marL="228600" lvl="1" indent="-91440" algn="l">
              <a:spcBef>
                <a:spcPts val="0"/>
              </a:spcBef>
              <a:spcAft>
                <a:spcPts val="0"/>
              </a:spcAft>
              <a:buSzPct val="100000"/>
              <a:buFont typeface="Arial"/>
              <a:buChar char="•"/>
            </a:pPr>
            <a:r>
              <a:rPr sz="1300" b="1" i="0" dirty="0">
                <a:solidFill>
                  <a:srgbClr val="1F2728"/>
                </a:solidFill>
                <a:latin typeface="Roboto"/>
              </a:rPr>
              <a:t>Hybrid Integration Model:</a:t>
            </a:r>
            <a:r>
              <a:rPr sz="1300" b="0" i="0" dirty="0">
                <a:solidFill>
                  <a:srgbClr val="1F2728"/>
                </a:solidFill>
                <a:latin typeface="Roboto"/>
              </a:rPr>
              <a:t> Combines asynchronous event-driven ingestion with scheduled batch pipelines for complete data coverage.</a:t>
            </a:r>
            <a:endParaRPr lang="en-US" sz="1300" b="0" i="0" dirty="0">
              <a:solidFill>
                <a:srgbClr val="1F2728"/>
              </a:solidFill>
              <a:latin typeface="Roboto"/>
            </a:endParaRPr>
          </a:p>
          <a:p>
            <a:pPr marL="137160" lvl="1" algn="l">
              <a:spcBef>
                <a:spcPts val="0"/>
              </a:spcBef>
              <a:spcAft>
                <a:spcPts val="0"/>
              </a:spcAft>
              <a:buSzPct val="100000"/>
            </a:pPr>
            <a:endParaRPr sz="1300" b="0" i="0" dirty="0">
              <a:solidFill>
                <a:srgbClr val="1F2728"/>
              </a:solidFill>
              <a:latin typeface="Roboto"/>
            </a:endParaRPr>
          </a:p>
          <a:p>
            <a:pPr marL="228600" lvl="1" indent="-91440" algn="l">
              <a:spcBef>
                <a:spcPts val="0"/>
              </a:spcBef>
              <a:spcAft>
                <a:spcPts val="0"/>
              </a:spcAft>
              <a:buSzPct val="100000"/>
              <a:buFont typeface="Arial"/>
              <a:buChar char="•"/>
            </a:pPr>
            <a:r>
              <a:rPr sz="1300" b="1" i="0" dirty="0">
                <a:solidFill>
                  <a:srgbClr val="1F2728"/>
                </a:solidFill>
                <a:latin typeface="Roboto"/>
              </a:rPr>
              <a:t>Business Continuity:</a:t>
            </a:r>
            <a:r>
              <a:rPr sz="1300" b="0" i="0" dirty="0">
                <a:solidFill>
                  <a:srgbClr val="1F2728"/>
                </a:solidFill>
                <a:latin typeface="Roboto"/>
              </a:rPr>
              <a:t> Redundant source connectivity and message retries ensure zero data loss across ingestion workflows.</a:t>
            </a:r>
          </a:p>
        </p:txBody>
      </p:sp>
      <p:sp>
        <p:nvSpPr>
          <p:cNvPr id="12" name="Rectangle 11"/>
          <p:cNvSpPr/>
          <p:nvPr/>
        </p:nvSpPr>
        <p:spPr>
          <a:xfrm>
            <a:off x="4589710" y="1508670"/>
            <a:ext cx="4173140" cy="259213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89710" y="1508670"/>
            <a:ext cx="4173140" cy="259213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89710" y="1508670"/>
            <a:ext cx="4173140" cy="2349251"/>
          </a:xfrm>
          <a:prstGeom prst="rect">
            <a:avLst/>
          </a:prstGeom>
          <a:noFill/>
          <a:ln>
            <a:noFill/>
          </a:ln>
        </p:spPr>
        <p:txBody>
          <a:bodyPr wrap="square" lIns="0" tIns="0" rIns="0" bIns="0" anchor="t">
            <a:spAutoFit/>
          </a:bodyPr>
          <a:lstStyle/>
          <a:p>
            <a:pPr algn="l"/>
            <a:endParaRPr/>
          </a:p>
        </p:txBody>
      </p:sp>
      <p:pic>
        <p:nvPicPr>
          <p:cNvPr id="15" name="Picture 14" descr="tmpih8_15wo.png"/>
          <p:cNvPicPr>
            <a:picLocks noChangeAspect="1"/>
          </p:cNvPicPr>
          <p:nvPr/>
        </p:nvPicPr>
        <p:blipFill>
          <a:blip r:embed="rId3"/>
          <a:stretch>
            <a:fillRect/>
          </a:stretch>
        </p:blipFill>
        <p:spPr>
          <a:xfrm>
            <a:off x="4589710" y="1508670"/>
            <a:ext cx="4173140" cy="2349251"/>
          </a:xfrm>
          <a:prstGeom prst="rect">
            <a:avLst/>
          </a:prstGeom>
        </p:spPr>
      </p:pic>
      <p:sp>
        <p:nvSpPr>
          <p:cNvPr id="16" name="Rectangle 15"/>
          <p:cNvSpPr/>
          <p:nvPr/>
        </p:nvSpPr>
        <p:spPr>
          <a:xfrm>
            <a:off x="4589710" y="3934122"/>
            <a:ext cx="4173140" cy="166687"/>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Event-Driven Ingestion Framework</a:t>
            </a:r>
          </a:p>
        </p:txBody>
      </p:sp>
      <p:sp>
        <p:nvSpPr>
          <p:cNvPr id="4" name="Subtitle 3"/>
          <p:cNvSpPr>
            <a:spLocks noGrp="1"/>
          </p:cNvSpPr>
          <p:nvPr>
            <p:ph type="subTitle" idx="13"/>
          </p:nvPr>
        </p:nvSpPr>
        <p:spPr/>
        <p:txBody>
          <a:bodyPr>
            <a:normAutofit/>
          </a:bodyPr>
          <a:lstStyle/>
          <a:p>
            <a:r>
              <a:t>Azure Event Grid and Service Bus for High-Volume Processing</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4154685" cy="334506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8600" y="1508670"/>
            <a:ext cx="4154685" cy="3424014"/>
          </a:xfrm>
          <a:prstGeom prst="rect">
            <a:avLst/>
          </a:prstGeom>
          <a:noFill/>
          <a:ln>
            <a:noFill/>
          </a:ln>
        </p:spPr>
        <p:txBody>
          <a:bodyPr wrap="square" lIns="165100" tIns="0" rIns="0" bIns="190500" anchor="t">
            <a:spAutoFit/>
          </a:bodyPr>
          <a:lstStyle/>
          <a:p>
            <a:pPr marL="228600" indent="-91440" algn="l">
              <a:spcBef>
                <a:spcPts val="0"/>
              </a:spcBef>
              <a:spcAft>
                <a:spcPts val="0"/>
              </a:spcAft>
              <a:buSzPct val="111111"/>
              <a:buFont typeface="Arial"/>
              <a:buChar char="•"/>
            </a:pPr>
            <a:r>
              <a:rPr sz="1400" b="1" i="0" dirty="0">
                <a:solidFill>
                  <a:srgbClr val="1F2728"/>
                </a:solidFill>
                <a:latin typeface="Roboto"/>
              </a:rPr>
              <a:t>Asynchronous Data Capture:</a:t>
            </a:r>
            <a:r>
              <a:rPr sz="1400" b="0" i="0" dirty="0">
                <a:solidFill>
                  <a:srgbClr val="1F2728"/>
                </a:solidFill>
                <a:latin typeface="Roboto"/>
              </a:rPr>
              <a:t> Azure Event Grid triggers ingestion workflows immediately when new files or events are created in storage.</a:t>
            </a:r>
            <a:endParaRPr lang="en-US" sz="1400" b="0" i="0" dirty="0">
              <a:solidFill>
                <a:srgbClr val="1F2728"/>
              </a:solidFill>
              <a:latin typeface="Roboto"/>
            </a:endParaRPr>
          </a:p>
          <a:p>
            <a:pPr marL="137160"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High-Throughput Queues:</a:t>
            </a:r>
            <a:r>
              <a:rPr sz="1400" b="0" i="0" dirty="0">
                <a:solidFill>
                  <a:srgbClr val="1F2728"/>
                </a:solidFill>
                <a:latin typeface="Roboto"/>
              </a:rPr>
              <a:t> Azure Service Bus manages transaction-heavy queues ensuring ordered and reliable message delivery</a:t>
            </a:r>
            <a:r>
              <a:rPr lang="en-US" sz="1400" b="0" i="0" dirty="0">
                <a:solidFill>
                  <a:srgbClr val="1F2728"/>
                </a:solidFill>
                <a:latin typeface="Roboto"/>
              </a:rPr>
              <a:t>.</a:t>
            </a:r>
          </a:p>
          <a:p>
            <a:pPr marL="137160" lvl="1"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Automated Routing:</a:t>
            </a:r>
            <a:r>
              <a:rPr sz="1400" b="0" i="0" dirty="0">
                <a:solidFill>
                  <a:srgbClr val="1F2728"/>
                </a:solidFill>
                <a:latin typeface="Roboto"/>
              </a:rPr>
              <a:t> Ingestion events are intelligently routed to processing functions or storage queues for scaling efficiency.</a:t>
            </a:r>
            <a:endParaRPr lang="en-US" sz="1400" b="0" i="0" dirty="0">
              <a:solidFill>
                <a:srgbClr val="1F2728"/>
              </a:solidFill>
              <a:latin typeface="Roboto"/>
            </a:endParaRPr>
          </a:p>
          <a:p>
            <a:pPr marL="137160" lvl="1"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Scalability:</a:t>
            </a:r>
            <a:r>
              <a:rPr sz="1400" b="0" i="0" dirty="0">
                <a:solidFill>
                  <a:srgbClr val="1F2728"/>
                </a:solidFill>
                <a:latin typeface="Roboto"/>
              </a:rPr>
              <a:t> Event-driven design allows the system to automatically scale to millions of transactions with minimal latency.</a:t>
            </a:r>
          </a:p>
        </p:txBody>
      </p:sp>
      <p:sp>
        <p:nvSpPr>
          <p:cNvPr id="12" name="Rectangle 11"/>
          <p:cNvSpPr/>
          <p:nvPr/>
        </p:nvSpPr>
        <p:spPr>
          <a:xfrm>
            <a:off x="4608165" y="1508670"/>
            <a:ext cx="4154685" cy="260315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608165" y="1508670"/>
            <a:ext cx="4154685" cy="260315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08165" y="1508670"/>
            <a:ext cx="4154685" cy="2338685"/>
          </a:xfrm>
          <a:prstGeom prst="rect">
            <a:avLst/>
          </a:prstGeom>
          <a:noFill/>
          <a:ln>
            <a:noFill/>
          </a:ln>
        </p:spPr>
        <p:txBody>
          <a:bodyPr wrap="square" lIns="0" tIns="0" rIns="0" bIns="0" anchor="t">
            <a:spAutoFit/>
          </a:bodyPr>
          <a:lstStyle/>
          <a:p>
            <a:pPr algn="l"/>
            <a:endParaRPr/>
          </a:p>
        </p:txBody>
      </p:sp>
      <p:pic>
        <p:nvPicPr>
          <p:cNvPr id="15" name="Picture 14" descr="tmpfkiw29ct.png"/>
          <p:cNvPicPr>
            <a:picLocks noChangeAspect="1"/>
          </p:cNvPicPr>
          <p:nvPr/>
        </p:nvPicPr>
        <p:blipFill>
          <a:blip r:embed="rId3"/>
          <a:stretch>
            <a:fillRect/>
          </a:stretch>
        </p:blipFill>
        <p:spPr>
          <a:xfrm>
            <a:off x="4608165" y="1508670"/>
            <a:ext cx="4154685" cy="2338685"/>
          </a:xfrm>
          <a:prstGeom prst="rect">
            <a:avLst/>
          </a:prstGeom>
        </p:spPr>
      </p:pic>
      <p:sp>
        <p:nvSpPr>
          <p:cNvPr id="16" name="Rectangle 15"/>
          <p:cNvSpPr/>
          <p:nvPr/>
        </p:nvSpPr>
        <p:spPr>
          <a:xfrm>
            <a:off x="4608165" y="3923555"/>
            <a:ext cx="4154685" cy="188118"/>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Azure Functions for Data Transformation</a:t>
            </a:r>
          </a:p>
        </p:txBody>
      </p:sp>
      <p:sp>
        <p:nvSpPr>
          <p:cNvPr id="4" name="Subtitle 3"/>
          <p:cNvSpPr>
            <a:spLocks noGrp="1"/>
          </p:cNvSpPr>
          <p:nvPr>
            <p:ph type="subTitle" idx="13"/>
          </p:nvPr>
        </p:nvSpPr>
        <p:spPr/>
        <p:txBody>
          <a:bodyPr>
            <a:normAutofit/>
          </a:bodyPr>
          <a:lstStyle/>
          <a:p>
            <a:r>
              <a:t>Python-Based ETL and Validation Workflows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28600" y="1508670"/>
            <a:ext cx="4171950" cy="16836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28600" y="1508670"/>
            <a:ext cx="4171950" cy="16836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28600" y="1508670"/>
            <a:ext cx="4171950" cy="16836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162175"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162175" y="1508670"/>
            <a:ext cx="304800" cy="304800"/>
          </a:xfrm>
          <a:prstGeom prst="rect">
            <a:avLst/>
          </a:prstGeom>
          <a:noFill/>
          <a:ln>
            <a:noFill/>
          </a:ln>
        </p:spPr>
        <p:txBody>
          <a:bodyPr wrap="square" lIns="0" tIns="0" rIns="0" bIns="0" anchor="t">
            <a:spAutoFit/>
          </a:bodyPr>
          <a:lstStyle/>
          <a:p>
            <a:pPr algn="ctr"/>
            <a:endParaRPr/>
          </a:p>
        </p:txBody>
      </p:sp>
      <p:pic>
        <p:nvPicPr>
          <p:cNvPr id="16" name="Picture 15" descr="tmpxqe53ryl.png"/>
          <p:cNvPicPr>
            <a:picLocks noChangeAspect="1"/>
          </p:cNvPicPr>
          <p:nvPr/>
        </p:nvPicPr>
        <p:blipFill>
          <a:blip r:embed="rId3"/>
          <a:stretch>
            <a:fillRect/>
          </a:stretch>
        </p:blipFill>
        <p:spPr>
          <a:xfrm>
            <a:off x="2162175" y="1508670"/>
            <a:ext cx="304800" cy="304800"/>
          </a:xfrm>
          <a:prstGeom prst="rect">
            <a:avLst/>
          </a:prstGeom>
        </p:spPr>
      </p:pic>
      <p:sp>
        <p:nvSpPr>
          <p:cNvPr id="17" name="TextBox 16"/>
          <p:cNvSpPr txBox="1"/>
          <p:nvPr/>
        </p:nvSpPr>
        <p:spPr>
          <a:xfrm>
            <a:off x="228600" y="1927770"/>
            <a:ext cx="4171950" cy="228600"/>
          </a:xfrm>
          <a:prstGeom prst="rect">
            <a:avLst/>
          </a:prstGeom>
          <a:noFill/>
          <a:ln>
            <a:noFill/>
          </a:ln>
        </p:spPr>
        <p:txBody>
          <a:bodyPr wrap="square" lIns="0" tIns="0" rIns="0" bIns="0" anchor="t">
            <a:spAutoFit/>
          </a:bodyPr>
          <a:lstStyle/>
          <a:p>
            <a:pPr algn="ctr"/>
            <a:r>
              <a:rPr sz="1300" b="1" i="0">
                <a:solidFill>
                  <a:srgbClr val="1F2728"/>
                </a:solidFill>
                <a:latin typeface="Roboto"/>
              </a:rPr>
              <a:t>Event-Triggered Processing</a:t>
            </a:r>
          </a:p>
          <a:p>
            <a:pPr algn="ctr">
              <a:spcAft>
                <a:spcPts val="1200"/>
              </a:spcAft>
            </a:pPr>
            <a:r>
              <a:rPr sz="1400" b="0" i="0">
                <a:solidFill>
                  <a:srgbClr val="1F2728"/>
                </a:solidFill>
                <a:latin typeface="Roboto"/>
              </a:rPr>
              <a:t>Functions execute automatically upon new event messages, enabling continuous ingestion without manual intervention.</a:t>
            </a:r>
          </a:p>
        </p:txBody>
      </p:sp>
      <p:sp>
        <p:nvSpPr>
          <p:cNvPr id="18" name="Rectangle 17"/>
          <p:cNvSpPr/>
          <p:nvPr/>
        </p:nvSpPr>
        <p:spPr>
          <a:xfrm>
            <a:off x="4591050" y="1508670"/>
            <a:ext cx="4171950" cy="16836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91050" y="1508670"/>
            <a:ext cx="4171950" cy="16836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91050" y="1508670"/>
            <a:ext cx="4171950" cy="16836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524625"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24625" y="1508670"/>
            <a:ext cx="304800" cy="304800"/>
          </a:xfrm>
          <a:prstGeom prst="rect">
            <a:avLst/>
          </a:prstGeom>
          <a:noFill/>
          <a:ln>
            <a:noFill/>
          </a:ln>
        </p:spPr>
        <p:txBody>
          <a:bodyPr wrap="square" lIns="0" tIns="0" rIns="0" bIns="0" anchor="t">
            <a:spAutoFit/>
          </a:bodyPr>
          <a:lstStyle/>
          <a:p>
            <a:pPr algn="ctr"/>
            <a:endParaRPr/>
          </a:p>
        </p:txBody>
      </p:sp>
      <p:pic>
        <p:nvPicPr>
          <p:cNvPr id="23" name="Picture 22" descr="tmpwhroansx.png"/>
          <p:cNvPicPr>
            <a:picLocks noChangeAspect="1"/>
          </p:cNvPicPr>
          <p:nvPr/>
        </p:nvPicPr>
        <p:blipFill>
          <a:blip r:embed="rId4"/>
          <a:stretch>
            <a:fillRect/>
          </a:stretch>
        </p:blipFill>
        <p:spPr>
          <a:xfrm>
            <a:off x="6524625" y="1508670"/>
            <a:ext cx="304800" cy="304800"/>
          </a:xfrm>
          <a:prstGeom prst="rect">
            <a:avLst/>
          </a:prstGeom>
        </p:spPr>
      </p:pic>
      <p:sp>
        <p:nvSpPr>
          <p:cNvPr id="24" name="TextBox 23"/>
          <p:cNvSpPr txBox="1"/>
          <p:nvPr/>
        </p:nvSpPr>
        <p:spPr>
          <a:xfrm>
            <a:off x="4591050" y="1927770"/>
            <a:ext cx="4171950" cy="228600"/>
          </a:xfrm>
          <a:prstGeom prst="rect">
            <a:avLst/>
          </a:prstGeom>
          <a:noFill/>
          <a:ln>
            <a:noFill/>
          </a:ln>
        </p:spPr>
        <p:txBody>
          <a:bodyPr wrap="square" lIns="0" tIns="0" rIns="0" bIns="0" anchor="t">
            <a:spAutoFit/>
          </a:bodyPr>
          <a:lstStyle/>
          <a:p>
            <a:pPr algn="ctr"/>
            <a:r>
              <a:rPr sz="1300" b="1" i="0">
                <a:solidFill>
                  <a:srgbClr val="1F2728"/>
                </a:solidFill>
                <a:latin typeface="Roboto"/>
              </a:rPr>
              <a:t>Data Validation</a:t>
            </a:r>
          </a:p>
          <a:p>
            <a:pPr algn="ctr">
              <a:spcAft>
                <a:spcPts val="1200"/>
              </a:spcAft>
            </a:pPr>
            <a:r>
              <a:rPr sz="1400" b="0" i="0">
                <a:solidFill>
                  <a:srgbClr val="1F2728"/>
                </a:solidFill>
                <a:latin typeface="Roboto"/>
              </a:rPr>
              <a:t>Schema integrity, missing value checks, and duplicate detection ensure data quality before storage.</a:t>
            </a:r>
          </a:p>
        </p:txBody>
      </p:sp>
      <p:sp>
        <p:nvSpPr>
          <p:cNvPr id="25" name="Rectangle 24"/>
          <p:cNvSpPr/>
          <p:nvPr/>
        </p:nvSpPr>
        <p:spPr>
          <a:xfrm>
            <a:off x="228600" y="3382863"/>
            <a:ext cx="4171950" cy="147027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28600" y="3382863"/>
            <a:ext cx="4171950" cy="147027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28600" y="3382863"/>
            <a:ext cx="4171950" cy="147027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162175" y="3382863"/>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162175" y="3382863"/>
            <a:ext cx="304800" cy="304800"/>
          </a:xfrm>
          <a:prstGeom prst="rect">
            <a:avLst/>
          </a:prstGeom>
          <a:noFill/>
          <a:ln>
            <a:noFill/>
          </a:ln>
        </p:spPr>
        <p:txBody>
          <a:bodyPr wrap="square" lIns="0" tIns="0" rIns="0" bIns="0" anchor="t">
            <a:spAutoFit/>
          </a:bodyPr>
          <a:lstStyle/>
          <a:p>
            <a:pPr algn="ctr"/>
            <a:endParaRPr/>
          </a:p>
        </p:txBody>
      </p:sp>
      <p:pic>
        <p:nvPicPr>
          <p:cNvPr id="30" name="Picture 29" descr="tmpw6nu8t68.png"/>
          <p:cNvPicPr>
            <a:picLocks noChangeAspect="1"/>
          </p:cNvPicPr>
          <p:nvPr/>
        </p:nvPicPr>
        <p:blipFill>
          <a:blip r:embed="rId5"/>
          <a:stretch>
            <a:fillRect/>
          </a:stretch>
        </p:blipFill>
        <p:spPr>
          <a:xfrm>
            <a:off x="2162175" y="3382863"/>
            <a:ext cx="304800" cy="304800"/>
          </a:xfrm>
          <a:prstGeom prst="rect">
            <a:avLst/>
          </a:prstGeom>
        </p:spPr>
      </p:pic>
      <p:sp>
        <p:nvSpPr>
          <p:cNvPr id="31" name="TextBox 30"/>
          <p:cNvSpPr txBox="1"/>
          <p:nvPr/>
        </p:nvSpPr>
        <p:spPr>
          <a:xfrm>
            <a:off x="228600" y="3801963"/>
            <a:ext cx="4171950" cy="228600"/>
          </a:xfrm>
          <a:prstGeom prst="rect">
            <a:avLst/>
          </a:prstGeom>
          <a:noFill/>
          <a:ln>
            <a:noFill/>
          </a:ln>
        </p:spPr>
        <p:txBody>
          <a:bodyPr wrap="square" lIns="0" tIns="0" rIns="0" bIns="0" anchor="t">
            <a:spAutoFit/>
          </a:bodyPr>
          <a:lstStyle/>
          <a:p>
            <a:pPr algn="ctr"/>
            <a:r>
              <a:rPr sz="1300" b="1" i="0">
                <a:solidFill>
                  <a:srgbClr val="1F2728"/>
                </a:solidFill>
                <a:latin typeface="Roboto"/>
              </a:rPr>
              <a:t>Transformation Logic</a:t>
            </a:r>
          </a:p>
          <a:p>
            <a:pPr algn="ctr">
              <a:spcAft>
                <a:spcPts val="1200"/>
              </a:spcAft>
            </a:pPr>
            <a:r>
              <a:rPr sz="1400" b="0" i="0">
                <a:solidFill>
                  <a:srgbClr val="1F2728"/>
                </a:solidFill>
                <a:latin typeface="Roboto"/>
              </a:rPr>
              <a:t>Implements rule-based classification and suspicious transaction flagging for fraud detection.</a:t>
            </a:r>
          </a:p>
        </p:txBody>
      </p:sp>
      <p:sp>
        <p:nvSpPr>
          <p:cNvPr id="32" name="Rectangle 31"/>
          <p:cNvSpPr/>
          <p:nvPr/>
        </p:nvSpPr>
        <p:spPr>
          <a:xfrm>
            <a:off x="4591050" y="3382863"/>
            <a:ext cx="4171950" cy="147027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91050" y="3382863"/>
            <a:ext cx="4171950" cy="147027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591050" y="3382863"/>
            <a:ext cx="4171950" cy="147027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524625" y="3382863"/>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24625" y="3382863"/>
            <a:ext cx="304800" cy="304800"/>
          </a:xfrm>
          <a:prstGeom prst="rect">
            <a:avLst/>
          </a:prstGeom>
          <a:noFill/>
          <a:ln>
            <a:noFill/>
          </a:ln>
        </p:spPr>
        <p:txBody>
          <a:bodyPr wrap="square" lIns="0" tIns="0" rIns="0" bIns="0" anchor="t">
            <a:spAutoFit/>
          </a:bodyPr>
          <a:lstStyle/>
          <a:p>
            <a:pPr algn="ctr"/>
            <a:endParaRPr/>
          </a:p>
        </p:txBody>
      </p:sp>
      <p:pic>
        <p:nvPicPr>
          <p:cNvPr id="37" name="Picture 36" descr="tmphl_lkmbw.png"/>
          <p:cNvPicPr>
            <a:picLocks noChangeAspect="1"/>
          </p:cNvPicPr>
          <p:nvPr/>
        </p:nvPicPr>
        <p:blipFill>
          <a:blip r:embed="rId6"/>
          <a:stretch>
            <a:fillRect/>
          </a:stretch>
        </p:blipFill>
        <p:spPr>
          <a:xfrm>
            <a:off x="6524625" y="3382863"/>
            <a:ext cx="304800" cy="304800"/>
          </a:xfrm>
          <a:prstGeom prst="rect">
            <a:avLst/>
          </a:prstGeom>
        </p:spPr>
      </p:pic>
      <p:sp>
        <p:nvSpPr>
          <p:cNvPr id="38" name="TextBox 37"/>
          <p:cNvSpPr txBox="1"/>
          <p:nvPr/>
        </p:nvSpPr>
        <p:spPr>
          <a:xfrm>
            <a:off x="4591050" y="3801963"/>
            <a:ext cx="4171950" cy="630942"/>
          </a:xfrm>
          <a:prstGeom prst="rect">
            <a:avLst/>
          </a:prstGeom>
          <a:noFill/>
          <a:ln>
            <a:noFill/>
          </a:ln>
        </p:spPr>
        <p:txBody>
          <a:bodyPr wrap="square" lIns="0" tIns="0" rIns="0" bIns="0" anchor="t">
            <a:spAutoFit/>
          </a:bodyPr>
          <a:lstStyle/>
          <a:p>
            <a:pPr algn="ctr"/>
            <a:r>
              <a:rPr sz="1300" b="1" i="0" dirty="0">
                <a:solidFill>
                  <a:srgbClr val="1F2728"/>
                </a:solidFill>
                <a:latin typeface="Roboto"/>
              </a:rPr>
              <a:t>Integration with Storage</a:t>
            </a:r>
          </a:p>
          <a:p>
            <a:pPr algn="ctr">
              <a:spcAft>
                <a:spcPts val="1200"/>
              </a:spcAft>
            </a:pPr>
            <a:r>
              <a:rPr sz="1400" b="0" i="0" dirty="0">
                <a:solidFill>
                  <a:srgbClr val="1F2728"/>
                </a:solidFill>
                <a:latin typeface="Roboto"/>
              </a:rPr>
              <a:t>Validated and transformed data is pushed to Cosmos DB  for downstream analytics.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Cosmos DB Operational Store</a:t>
            </a:r>
          </a:p>
        </p:txBody>
      </p:sp>
      <p:sp>
        <p:nvSpPr>
          <p:cNvPr id="4" name="Subtitle 3"/>
          <p:cNvSpPr>
            <a:spLocks noGrp="1"/>
          </p:cNvSpPr>
          <p:nvPr>
            <p:ph type="subTitle" idx="13"/>
          </p:nvPr>
        </p:nvSpPr>
        <p:spPr/>
        <p:txBody>
          <a:bodyPr>
            <a:normAutofit/>
          </a:bodyPr>
          <a:lstStyle/>
          <a:p>
            <a:r>
              <a:t>Low-Latency Database for Banking Transactions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4172694"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8600" y="1508670"/>
            <a:ext cx="4172694" cy="2993127"/>
          </a:xfrm>
          <a:prstGeom prst="rect">
            <a:avLst/>
          </a:prstGeom>
          <a:noFill/>
          <a:ln>
            <a:noFill/>
          </a:ln>
        </p:spPr>
        <p:txBody>
          <a:bodyPr wrap="square" lIns="165100" tIns="0" rIns="0" bIns="190500" anchor="t">
            <a:spAutoFit/>
          </a:bodyPr>
          <a:lstStyle/>
          <a:p>
            <a:pPr marL="228600" indent="-91440" algn="l">
              <a:spcBef>
                <a:spcPts val="0"/>
              </a:spcBef>
              <a:spcAft>
                <a:spcPts val="0"/>
              </a:spcAft>
              <a:buSzPct val="100000"/>
              <a:buFont typeface="Arial"/>
              <a:buChar char="•"/>
            </a:pPr>
            <a:r>
              <a:rPr sz="1300" b="1" i="0" dirty="0">
                <a:solidFill>
                  <a:srgbClr val="1F2728"/>
                </a:solidFill>
                <a:latin typeface="Roboto"/>
              </a:rPr>
              <a:t>NoSQL Architecture:</a:t>
            </a:r>
            <a:r>
              <a:rPr sz="1300" b="0" i="0" dirty="0">
                <a:solidFill>
                  <a:srgbClr val="1F2728"/>
                </a:solidFill>
                <a:latin typeface="Roboto"/>
              </a:rPr>
              <a:t> Stores transactional and account data in partitioned collections for high scalability and fast lookups.</a:t>
            </a:r>
            <a:endParaRPr lang="en-US" sz="1300" b="0" i="0" dirty="0">
              <a:solidFill>
                <a:srgbClr val="1F2728"/>
              </a:solidFill>
              <a:latin typeface="Roboto"/>
            </a:endParaRPr>
          </a:p>
          <a:p>
            <a:pPr marL="137160" algn="l">
              <a:spcBef>
                <a:spcPts val="0"/>
              </a:spcBef>
              <a:spcAft>
                <a:spcPts val="0"/>
              </a:spcAft>
              <a:buSzPct val="100000"/>
            </a:pPr>
            <a:endParaRPr sz="1300" b="0" i="0" dirty="0">
              <a:solidFill>
                <a:srgbClr val="1F2728"/>
              </a:solidFill>
              <a:latin typeface="Roboto"/>
            </a:endParaRPr>
          </a:p>
          <a:p>
            <a:pPr marL="228600" lvl="1" indent="-91440" algn="l">
              <a:spcBef>
                <a:spcPts val="0"/>
              </a:spcBef>
              <a:spcAft>
                <a:spcPts val="0"/>
              </a:spcAft>
              <a:buSzPct val="100000"/>
              <a:buFont typeface="Arial"/>
              <a:buChar char="•"/>
            </a:pPr>
            <a:r>
              <a:rPr sz="1300" b="1" i="0" dirty="0">
                <a:solidFill>
                  <a:srgbClr val="1F2728"/>
                </a:solidFill>
                <a:latin typeface="Roboto"/>
              </a:rPr>
              <a:t>Collections Design:</a:t>
            </a:r>
            <a:r>
              <a:rPr sz="1300" b="0" i="0" dirty="0">
                <a:solidFill>
                  <a:srgbClr val="1F2728"/>
                </a:solidFill>
                <a:latin typeface="Roboto"/>
              </a:rPr>
              <a:t> </a:t>
            </a:r>
            <a:r>
              <a:rPr sz="1300" b="0" i="0" dirty="0" err="1">
                <a:solidFill>
                  <a:srgbClr val="1F2728"/>
                </a:solidFill>
                <a:latin typeface="Roboto"/>
              </a:rPr>
              <a:t>ATMTransactions</a:t>
            </a:r>
            <a:r>
              <a:rPr sz="1300" b="0" i="0" dirty="0">
                <a:solidFill>
                  <a:srgbClr val="1F2728"/>
                </a:solidFill>
                <a:latin typeface="Roboto"/>
              </a:rPr>
              <a:t>, </a:t>
            </a:r>
            <a:r>
              <a:rPr sz="1300" b="0" i="0" dirty="0" err="1">
                <a:solidFill>
                  <a:srgbClr val="1F2728"/>
                </a:solidFill>
                <a:latin typeface="Roboto"/>
              </a:rPr>
              <a:t>UPIEvents</a:t>
            </a:r>
            <a:r>
              <a:rPr sz="1300" b="0" i="0" dirty="0">
                <a:solidFill>
                  <a:srgbClr val="1F2728"/>
                </a:solidFill>
                <a:latin typeface="Roboto"/>
              </a:rPr>
              <a:t>, and </a:t>
            </a:r>
            <a:r>
              <a:rPr sz="1300" b="0" i="0" dirty="0" err="1">
                <a:solidFill>
                  <a:srgbClr val="1F2728"/>
                </a:solidFill>
                <a:latin typeface="Roboto"/>
              </a:rPr>
              <a:t>FraudAlerts</a:t>
            </a:r>
            <a:r>
              <a:rPr sz="1300" b="0" i="0" dirty="0">
                <a:solidFill>
                  <a:srgbClr val="1F2728"/>
                </a:solidFill>
                <a:latin typeface="Roboto"/>
              </a:rPr>
              <a:t> collections optimized by </a:t>
            </a:r>
            <a:r>
              <a:rPr sz="1300" b="0" i="0" dirty="0" err="1">
                <a:solidFill>
                  <a:srgbClr val="1F2728"/>
                </a:solidFill>
                <a:latin typeface="Roboto"/>
              </a:rPr>
              <a:t>TransactionID</a:t>
            </a:r>
            <a:r>
              <a:rPr sz="1300" b="0" i="0" dirty="0">
                <a:solidFill>
                  <a:srgbClr val="1F2728"/>
                </a:solidFill>
                <a:latin typeface="Roboto"/>
              </a:rPr>
              <a:t>.</a:t>
            </a:r>
            <a:endParaRPr lang="en-US" sz="1300" b="0" i="0" dirty="0">
              <a:solidFill>
                <a:srgbClr val="1F2728"/>
              </a:solidFill>
              <a:latin typeface="Roboto"/>
            </a:endParaRPr>
          </a:p>
          <a:p>
            <a:pPr marL="137160" lvl="1" algn="l">
              <a:spcBef>
                <a:spcPts val="0"/>
              </a:spcBef>
              <a:spcAft>
                <a:spcPts val="0"/>
              </a:spcAft>
              <a:buSzPct val="100000"/>
            </a:pPr>
            <a:endParaRPr sz="1300" b="0" i="0" dirty="0">
              <a:solidFill>
                <a:srgbClr val="1F2728"/>
              </a:solidFill>
              <a:latin typeface="Roboto"/>
            </a:endParaRPr>
          </a:p>
          <a:p>
            <a:pPr marL="228600" lvl="1" indent="-91440" algn="l">
              <a:spcBef>
                <a:spcPts val="0"/>
              </a:spcBef>
              <a:spcAft>
                <a:spcPts val="0"/>
              </a:spcAft>
              <a:buSzPct val="100000"/>
              <a:buFont typeface="Arial"/>
              <a:buChar char="•"/>
            </a:pPr>
            <a:r>
              <a:rPr sz="1300" b="1" i="0" dirty="0">
                <a:solidFill>
                  <a:srgbClr val="1F2728"/>
                </a:solidFill>
                <a:latin typeface="Roboto"/>
              </a:rPr>
              <a:t>High Availability:</a:t>
            </a:r>
            <a:r>
              <a:rPr sz="1300" b="0" i="0" dirty="0">
                <a:solidFill>
                  <a:srgbClr val="1F2728"/>
                </a:solidFill>
                <a:latin typeface="Roboto"/>
              </a:rPr>
              <a:t> Offers global replication, ensuring consistent read/write access with minimal latency.</a:t>
            </a:r>
            <a:endParaRPr lang="en-US" sz="1300" b="0" i="0" dirty="0">
              <a:solidFill>
                <a:srgbClr val="1F2728"/>
              </a:solidFill>
              <a:latin typeface="Roboto"/>
            </a:endParaRPr>
          </a:p>
          <a:p>
            <a:pPr marL="137160" lvl="1" algn="l">
              <a:spcBef>
                <a:spcPts val="0"/>
              </a:spcBef>
              <a:spcAft>
                <a:spcPts val="0"/>
              </a:spcAft>
              <a:buSzPct val="100000"/>
            </a:pPr>
            <a:endParaRPr sz="1300" b="0" i="0" dirty="0">
              <a:solidFill>
                <a:srgbClr val="1F2728"/>
              </a:solidFill>
              <a:latin typeface="Roboto"/>
            </a:endParaRPr>
          </a:p>
          <a:p>
            <a:pPr marL="228600" lvl="1" indent="-91440" algn="l">
              <a:spcBef>
                <a:spcPts val="0"/>
              </a:spcBef>
              <a:spcAft>
                <a:spcPts val="0"/>
              </a:spcAft>
              <a:buSzPct val="100000"/>
              <a:buFont typeface="Arial"/>
              <a:buChar char="•"/>
            </a:pPr>
            <a:r>
              <a:rPr sz="1300" b="1" i="0" dirty="0">
                <a:solidFill>
                  <a:srgbClr val="1F2728"/>
                </a:solidFill>
                <a:latin typeface="Roboto"/>
              </a:rPr>
              <a:t>Integration Layer:</a:t>
            </a:r>
            <a:r>
              <a:rPr sz="1300" b="0" i="0" dirty="0">
                <a:solidFill>
                  <a:srgbClr val="1F2728"/>
                </a:solidFill>
                <a:latin typeface="Roboto"/>
              </a:rPr>
              <a:t> Feeds real-time applications, fraud detection functions, and the analytical warehouse.</a:t>
            </a:r>
          </a:p>
        </p:txBody>
      </p:sp>
      <p:sp>
        <p:nvSpPr>
          <p:cNvPr id="12" name="Rectangle 11"/>
          <p:cNvSpPr/>
          <p:nvPr/>
        </p:nvSpPr>
        <p:spPr>
          <a:xfrm>
            <a:off x="4589710" y="1508670"/>
            <a:ext cx="4173140" cy="259213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89710" y="1508670"/>
            <a:ext cx="4173140" cy="259213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89710" y="1508670"/>
            <a:ext cx="4173140" cy="2349251"/>
          </a:xfrm>
          <a:prstGeom prst="rect">
            <a:avLst/>
          </a:prstGeom>
          <a:noFill/>
          <a:ln>
            <a:noFill/>
          </a:ln>
        </p:spPr>
        <p:txBody>
          <a:bodyPr wrap="square" lIns="0" tIns="0" rIns="0" bIns="0" anchor="t">
            <a:spAutoFit/>
          </a:bodyPr>
          <a:lstStyle/>
          <a:p>
            <a:pPr algn="l"/>
            <a:endParaRPr/>
          </a:p>
        </p:txBody>
      </p:sp>
      <p:pic>
        <p:nvPicPr>
          <p:cNvPr id="15" name="Picture 14" descr="tmpme783vw7.png"/>
          <p:cNvPicPr>
            <a:picLocks noChangeAspect="1"/>
          </p:cNvPicPr>
          <p:nvPr/>
        </p:nvPicPr>
        <p:blipFill>
          <a:blip r:embed="rId3"/>
          <a:stretch>
            <a:fillRect/>
          </a:stretch>
        </p:blipFill>
        <p:spPr>
          <a:xfrm>
            <a:off x="4589710" y="1508670"/>
            <a:ext cx="4173140" cy="2349251"/>
          </a:xfrm>
          <a:prstGeom prst="rect">
            <a:avLst/>
          </a:prstGeom>
        </p:spPr>
      </p:pic>
      <p:sp>
        <p:nvSpPr>
          <p:cNvPr id="16" name="Rectangle 15"/>
          <p:cNvSpPr/>
          <p:nvPr/>
        </p:nvSpPr>
        <p:spPr>
          <a:xfrm>
            <a:off x="4589710" y="3934122"/>
            <a:ext cx="4173140" cy="166687"/>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PySpark Data Cleaning Pipeline</a:t>
            </a:r>
          </a:p>
        </p:txBody>
      </p:sp>
      <p:sp>
        <p:nvSpPr>
          <p:cNvPr id="4" name="Subtitle 3"/>
          <p:cNvSpPr>
            <a:spLocks noGrp="1"/>
          </p:cNvSpPr>
          <p:nvPr>
            <p:ph type="subTitle" idx="13"/>
          </p:nvPr>
        </p:nvSpPr>
        <p:spPr/>
        <p:txBody>
          <a:bodyPr>
            <a:normAutofit/>
          </a:bodyPr>
          <a:lstStyle/>
          <a:p>
            <a:r>
              <a:rPr dirty="0"/>
              <a:t>Data Refinement</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4154685" cy="334506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8600" y="1508670"/>
            <a:ext cx="4154685" cy="3424014"/>
          </a:xfrm>
          <a:prstGeom prst="rect">
            <a:avLst/>
          </a:prstGeom>
          <a:noFill/>
          <a:ln>
            <a:noFill/>
          </a:ln>
        </p:spPr>
        <p:txBody>
          <a:bodyPr wrap="square" lIns="165100" tIns="0" rIns="0" bIns="190500" anchor="t">
            <a:spAutoFit/>
          </a:bodyPr>
          <a:lstStyle/>
          <a:p>
            <a:pPr marL="228600" indent="-91440" algn="l">
              <a:spcBef>
                <a:spcPts val="0"/>
              </a:spcBef>
              <a:spcAft>
                <a:spcPts val="0"/>
              </a:spcAft>
              <a:buSzPct val="111111"/>
              <a:buFont typeface="Arial"/>
              <a:buChar char="•"/>
            </a:pPr>
            <a:r>
              <a:rPr sz="1400" b="1" i="0" dirty="0">
                <a:solidFill>
                  <a:srgbClr val="1F2728"/>
                </a:solidFill>
                <a:latin typeface="Roboto"/>
              </a:rPr>
              <a:t>Ingestion from Raw Sources:</a:t>
            </a:r>
            <a:r>
              <a:rPr sz="1400" b="0" i="0" dirty="0">
                <a:solidFill>
                  <a:srgbClr val="1F2728"/>
                </a:solidFill>
                <a:latin typeface="Roboto"/>
              </a:rPr>
              <a:t> Reads raw data from Cosmos DB and ADLS containers containing ATM, UPI, and customer datasets.</a:t>
            </a:r>
            <a:endParaRPr lang="en-US" sz="1400" b="0" i="0" dirty="0">
              <a:solidFill>
                <a:srgbClr val="1F2728"/>
              </a:solidFill>
              <a:latin typeface="Roboto"/>
            </a:endParaRPr>
          </a:p>
          <a:p>
            <a:pPr marL="137160"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Data Normalization:</a:t>
            </a:r>
            <a:r>
              <a:rPr sz="1400" b="0" i="0" dirty="0">
                <a:solidFill>
                  <a:srgbClr val="1F2728"/>
                </a:solidFill>
                <a:latin typeface="Roboto"/>
              </a:rPr>
              <a:t> Standardizes currency, timestamps, and schema fields across different transaction types.</a:t>
            </a:r>
            <a:endParaRPr lang="en-US" sz="1400" b="0" i="0" dirty="0">
              <a:solidFill>
                <a:srgbClr val="1F2728"/>
              </a:solidFill>
              <a:latin typeface="Roboto"/>
            </a:endParaRPr>
          </a:p>
          <a:p>
            <a:pPr marL="137160" lvl="1"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Merging and Consolidation:</a:t>
            </a:r>
            <a:r>
              <a:rPr sz="1400" b="0" i="0" dirty="0">
                <a:solidFill>
                  <a:srgbClr val="1F2728"/>
                </a:solidFill>
                <a:latin typeface="Roboto"/>
              </a:rPr>
              <a:t> Unifies data streams into a </a:t>
            </a:r>
            <a:r>
              <a:rPr sz="1400" b="0" i="0" dirty="0" err="1">
                <a:solidFill>
                  <a:srgbClr val="1F2728"/>
                </a:solidFill>
                <a:latin typeface="Roboto"/>
              </a:rPr>
              <a:t>Fact_Transactions</a:t>
            </a:r>
            <a:r>
              <a:rPr sz="1400" b="0" i="0" dirty="0">
                <a:solidFill>
                  <a:srgbClr val="1F2728"/>
                </a:solidFill>
                <a:latin typeface="Roboto"/>
              </a:rPr>
              <a:t> dataset stored in Bronze, Silver, and Gold layers.</a:t>
            </a:r>
            <a:endParaRPr lang="en-US" sz="1400" b="0" i="0" dirty="0">
              <a:solidFill>
                <a:srgbClr val="1F2728"/>
              </a:solidFill>
              <a:latin typeface="Roboto"/>
            </a:endParaRPr>
          </a:p>
          <a:p>
            <a:pPr marL="137160" lvl="1"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ETL Scalability:</a:t>
            </a:r>
            <a:r>
              <a:rPr sz="1400" b="0" i="0" dirty="0">
                <a:solidFill>
                  <a:srgbClr val="1F2728"/>
                </a:solidFill>
                <a:latin typeface="Roboto"/>
              </a:rPr>
              <a:t> </a:t>
            </a:r>
            <a:r>
              <a:rPr sz="1400" b="0" i="0" dirty="0" err="1">
                <a:solidFill>
                  <a:srgbClr val="1F2728"/>
                </a:solidFill>
                <a:latin typeface="Roboto"/>
              </a:rPr>
              <a:t>PySpark</a:t>
            </a:r>
            <a:r>
              <a:rPr sz="1400" b="0" i="0" dirty="0">
                <a:solidFill>
                  <a:srgbClr val="1F2728"/>
                </a:solidFill>
                <a:latin typeface="Roboto"/>
              </a:rPr>
              <a:t> enables distributed processing and efficient handling of millions of transactions daily.</a:t>
            </a:r>
          </a:p>
        </p:txBody>
      </p:sp>
      <p:sp>
        <p:nvSpPr>
          <p:cNvPr id="12" name="Rectangle 11"/>
          <p:cNvSpPr/>
          <p:nvPr/>
        </p:nvSpPr>
        <p:spPr>
          <a:xfrm>
            <a:off x="4608165" y="1508670"/>
            <a:ext cx="4154685" cy="260315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608165" y="1508670"/>
            <a:ext cx="4154685" cy="260315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08165" y="1508670"/>
            <a:ext cx="4154685" cy="2338685"/>
          </a:xfrm>
          <a:prstGeom prst="rect">
            <a:avLst/>
          </a:prstGeom>
          <a:noFill/>
          <a:ln>
            <a:noFill/>
          </a:ln>
        </p:spPr>
        <p:txBody>
          <a:bodyPr wrap="square" lIns="0" tIns="0" rIns="0" bIns="0" anchor="t">
            <a:spAutoFit/>
          </a:bodyPr>
          <a:lstStyle/>
          <a:p>
            <a:pPr algn="l"/>
            <a:endParaRPr/>
          </a:p>
        </p:txBody>
      </p:sp>
      <p:pic>
        <p:nvPicPr>
          <p:cNvPr id="15" name="Picture 14" descr="tmp3jrj6td3.png"/>
          <p:cNvPicPr>
            <a:picLocks noChangeAspect="1"/>
          </p:cNvPicPr>
          <p:nvPr/>
        </p:nvPicPr>
        <p:blipFill>
          <a:blip r:embed="rId3"/>
          <a:stretch>
            <a:fillRect/>
          </a:stretch>
        </p:blipFill>
        <p:spPr>
          <a:xfrm>
            <a:off x="4608165" y="1508670"/>
            <a:ext cx="4154685" cy="2338685"/>
          </a:xfrm>
          <a:prstGeom prst="rect">
            <a:avLst/>
          </a:prstGeom>
        </p:spPr>
      </p:pic>
      <p:sp>
        <p:nvSpPr>
          <p:cNvPr id="16" name="Rectangle 15"/>
          <p:cNvSpPr/>
          <p:nvPr/>
        </p:nvSpPr>
        <p:spPr>
          <a:xfrm>
            <a:off x="4608165" y="3923555"/>
            <a:ext cx="4154685" cy="188118"/>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Data Warehouse Design – Star Schema</a:t>
            </a:r>
          </a:p>
        </p:txBody>
      </p:sp>
      <p:sp>
        <p:nvSpPr>
          <p:cNvPr id="4" name="Subtitle 3"/>
          <p:cNvSpPr>
            <a:spLocks noGrp="1"/>
          </p:cNvSpPr>
          <p:nvPr>
            <p:ph type="subTitle" idx="13"/>
          </p:nvPr>
        </p:nvSpPr>
        <p:spPr/>
        <p:txBody>
          <a:bodyPr>
            <a:normAutofit/>
          </a:bodyPr>
          <a:lstStyle/>
          <a:p>
            <a:r>
              <a:t>Optimized Model for Banking Analytics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4154685" cy="334506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8600" y="1508670"/>
            <a:ext cx="4154685" cy="3424014"/>
          </a:xfrm>
          <a:prstGeom prst="rect">
            <a:avLst/>
          </a:prstGeom>
          <a:noFill/>
          <a:ln>
            <a:noFill/>
          </a:ln>
        </p:spPr>
        <p:txBody>
          <a:bodyPr wrap="square" lIns="165100" tIns="0" rIns="0" bIns="190500" anchor="t">
            <a:spAutoFit/>
          </a:bodyPr>
          <a:lstStyle/>
          <a:p>
            <a:pPr marL="228600" indent="-91440" algn="l">
              <a:spcBef>
                <a:spcPts val="0"/>
              </a:spcBef>
              <a:spcAft>
                <a:spcPts val="0"/>
              </a:spcAft>
              <a:buSzPct val="111111"/>
              <a:buFont typeface="Arial"/>
              <a:buChar char="•"/>
            </a:pPr>
            <a:r>
              <a:rPr sz="1400" b="1" i="0" dirty="0">
                <a:solidFill>
                  <a:srgbClr val="1F2728"/>
                </a:solidFill>
                <a:latin typeface="Roboto"/>
              </a:rPr>
              <a:t>Dimensional Modeling:</a:t>
            </a:r>
            <a:r>
              <a:rPr sz="1400" b="0" i="0" dirty="0">
                <a:solidFill>
                  <a:srgbClr val="1F2728"/>
                </a:solidFill>
                <a:latin typeface="Roboto"/>
              </a:rPr>
              <a:t> Implements a classic Star Schema with dimensions for Customer, Account, Branch, Product, and Date.</a:t>
            </a:r>
            <a:endParaRPr lang="en-US" sz="1400" b="0" i="0" dirty="0">
              <a:solidFill>
                <a:srgbClr val="1F2728"/>
              </a:solidFill>
              <a:latin typeface="Roboto"/>
            </a:endParaRPr>
          </a:p>
          <a:p>
            <a:pPr marL="137160"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Fact Tables:</a:t>
            </a:r>
            <a:r>
              <a:rPr sz="1400" b="0" i="0" dirty="0">
                <a:solidFill>
                  <a:srgbClr val="1F2728"/>
                </a:solidFill>
                <a:latin typeface="Roboto"/>
              </a:rPr>
              <a:t> Central facts include transactions, fraud events, and customer activity for BI and compliance analytics.</a:t>
            </a:r>
            <a:endParaRPr lang="en-US" sz="1400" b="0" i="0" dirty="0">
              <a:solidFill>
                <a:srgbClr val="1F2728"/>
              </a:solidFill>
              <a:latin typeface="Roboto"/>
            </a:endParaRPr>
          </a:p>
          <a:p>
            <a:pPr marL="137160" lvl="1"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ETL Automation:</a:t>
            </a:r>
            <a:r>
              <a:rPr sz="1400" b="0" i="0" dirty="0">
                <a:solidFill>
                  <a:srgbClr val="1F2728"/>
                </a:solidFill>
                <a:latin typeface="Roboto"/>
              </a:rPr>
              <a:t> </a:t>
            </a:r>
            <a:r>
              <a:rPr sz="1400" b="0" i="0" dirty="0" err="1">
                <a:solidFill>
                  <a:srgbClr val="1F2728"/>
                </a:solidFill>
                <a:latin typeface="Roboto"/>
              </a:rPr>
              <a:t>PySpark</a:t>
            </a:r>
            <a:r>
              <a:rPr sz="1400" b="0" i="0" dirty="0">
                <a:solidFill>
                  <a:srgbClr val="1F2728"/>
                </a:solidFill>
                <a:latin typeface="Roboto"/>
              </a:rPr>
              <a:t> ETL pipelines load data from Delta layers into </a:t>
            </a:r>
            <a:r>
              <a:rPr lang="en-US" dirty="0">
                <a:solidFill>
                  <a:srgbClr val="1F2728"/>
                </a:solidFill>
                <a:latin typeface="Roboto"/>
              </a:rPr>
              <a:t>Azure</a:t>
            </a:r>
            <a:r>
              <a:rPr sz="1400" b="0" i="0" dirty="0">
                <a:solidFill>
                  <a:srgbClr val="1F2728"/>
                </a:solidFill>
                <a:latin typeface="Roboto"/>
              </a:rPr>
              <a:t> SQL using MERGE/UPSERT operations.</a:t>
            </a:r>
            <a:endParaRPr lang="en-US" sz="1400" b="0" i="0" dirty="0">
              <a:solidFill>
                <a:srgbClr val="1F2728"/>
              </a:solidFill>
              <a:latin typeface="Roboto"/>
            </a:endParaRPr>
          </a:p>
          <a:p>
            <a:pPr marL="137160" lvl="1"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Business Intelligence Foundation:</a:t>
            </a:r>
            <a:r>
              <a:rPr sz="1400" b="0" i="0" dirty="0">
                <a:solidFill>
                  <a:srgbClr val="1F2728"/>
                </a:solidFill>
                <a:latin typeface="Roboto"/>
              </a:rPr>
              <a:t> Serves as the single source of truth for Power BI dashboards and regulatory reports.</a:t>
            </a:r>
          </a:p>
        </p:txBody>
      </p:sp>
      <p:sp>
        <p:nvSpPr>
          <p:cNvPr id="12" name="Rectangle 11"/>
          <p:cNvSpPr/>
          <p:nvPr/>
        </p:nvSpPr>
        <p:spPr>
          <a:xfrm>
            <a:off x="4608165" y="1508670"/>
            <a:ext cx="4154685" cy="260315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608165" y="1508670"/>
            <a:ext cx="4154685" cy="260315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08165" y="1508670"/>
            <a:ext cx="4154685" cy="2338685"/>
          </a:xfrm>
          <a:prstGeom prst="rect">
            <a:avLst/>
          </a:prstGeom>
          <a:noFill/>
          <a:ln>
            <a:noFill/>
          </a:ln>
        </p:spPr>
        <p:txBody>
          <a:bodyPr wrap="square" lIns="0" tIns="0" rIns="0" bIns="0" anchor="t">
            <a:spAutoFit/>
          </a:bodyPr>
          <a:lstStyle/>
          <a:p>
            <a:pPr algn="l"/>
            <a:endParaRPr/>
          </a:p>
        </p:txBody>
      </p:sp>
      <p:pic>
        <p:nvPicPr>
          <p:cNvPr id="15" name="Picture 14" descr="tmps2b392tn.png"/>
          <p:cNvPicPr>
            <a:picLocks noChangeAspect="1"/>
          </p:cNvPicPr>
          <p:nvPr/>
        </p:nvPicPr>
        <p:blipFill>
          <a:blip r:embed="rId3"/>
          <a:stretch>
            <a:fillRect/>
          </a:stretch>
        </p:blipFill>
        <p:spPr>
          <a:xfrm>
            <a:off x="4608165" y="1508670"/>
            <a:ext cx="4154685" cy="2338685"/>
          </a:xfrm>
          <a:prstGeom prst="rect">
            <a:avLst/>
          </a:prstGeom>
        </p:spPr>
      </p:pic>
      <p:sp>
        <p:nvSpPr>
          <p:cNvPr id="16" name="Rectangle 15"/>
          <p:cNvSpPr/>
          <p:nvPr/>
        </p:nvSpPr>
        <p:spPr>
          <a:xfrm>
            <a:off x="4608165" y="3923555"/>
            <a:ext cx="4154685" cy="188118"/>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ETL Pipeline Logic</a:t>
            </a:r>
          </a:p>
        </p:txBody>
      </p:sp>
      <p:sp>
        <p:nvSpPr>
          <p:cNvPr id="4" name="Subtitle 3"/>
          <p:cNvSpPr>
            <a:spLocks noGrp="1"/>
          </p:cNvSpPr>
          <p:nvPr>
            <p:ph type="subTitle" idx="13"/>
          </p:nvPr>
        </p:nvSpPr>
        <p:spPr/>
        <p:txBody>
          <a:bodyPr>
            <a:normAutofit/>
          </a:bodyPr>
          <a:lstStyle/>
          <a:p>
            <a:r>
              <a:rPr dirty="0" err="1"/>
              <a:t>PySpark</a:t>
            </a:r>
            <a:r>
              <a:rPr dirty="0"/>
              <a:t>  Integration for Reliable Data Flows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2860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20350" y="1508670"/>
            <a:ext cx="4622007"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162175"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162175" y="1508670"/>
            <a:ext cx="304800" cy="304800"/>
          </a:xfrm>
          <a:prstGeom prst="rect">
            <a:avLst/>
          </a:prstGeom>
          <a:noFill/>
          <a:ln>
            <a:noFill/>
          </a:ln>
        </p:spPr>
        <p:txBody>
          <a:bodyPr wrap="square" lIns="0" tIns="0" rIns="0" bIns="0" anchor="t">
            <a:spAutoFit/>
          </a:bodyPr>
          <a:lstStyle/>
          <a:p>
            <a:pPr algn="ctr"/>
            <a:endParaRPr/>
          </a:p>
        </p:txBody>
      </p:sp>
      <p:sp>
        <p:nvSpPr>
          <p:cNvPr id="18" name="Rectangle 17"/>
          <p:cNvSpPr/>
          <p:nvPr/>
        </p:nvSpPr>
        <p:spPr>
          <a:xfrm>
            <a:off x="459105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972050" y="1301595"/>
            <a:ext cx="3771898"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440656" y="1753346"/>
            <a:ext cx="3340894"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524625"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24625" y="1508670"/>
            <a:ext cx="304800" cy="304800"/>
          </a:xfrm>
          <a:prstGeom prst="rect">
            <a:avLst/>
          </a:prstGeom>
          <a:noFill/>
          <a:ln>
            <a:noFill/>
          </a:ln>
        </p:spPr>
        <p:txBody>
          <a:bodyPr wrap="square" lIns="0" tIns="0" rIns="0" bIns="0" anchor="t">
            <a:spAutoFit/>
          </a:bodyPr>
          <a:lstStyle/>
          <a:p>
            <a:pPr algn="ctr"/>
            <a:endParaRPr/>
          </a:p>
        </p:txBody>
      </p:sp>
      <p:pic>
        <p:nvPicPr>
          <p:cNvPr id="23" name="Picture 22" descr="tmp63khylcf.png"/>
          <p:cNvPicPr>
            <a:picLocks noChangeAspect="1"/>
          </p:cNvPicPr>
          <p:nvPr/>
        </p:nvPicPr>
        <p:blipFill>
          <a:blip r:embed="rId3"/>
          <a:stretch>
            <a:fillRect/>
          </a:stretch>
        </p:blipFill>
        <p:spPr>
          <a:xfrm>
            <a:off x="3144443" y="1508670"/>
            <a:ext cx="304800" cy="304800"/>
          </a:xfrm>
          <a:prstGeom prst="rect">
            <a:avLst/>
          </a:prstGeom>
        </p:spPr>
      </p:pic>
      <p:sp>
        <p:nvSpPr>
          <p:cNvPr id="24" name="TextBox 23"/>
          <p:cNvSpPr txBox="1"/>
          <p:nvPr/>
        </p:nvSpPr>
        <p:spPr>
          <a:xfrm>
            <a:off x="1379933" y="1948431"/>
            <a:ext cx="4171950" cy="228600"/>
          </a:xfrm>
          <a:prstGeom prst="rect">
            <a:avLst/>
          </a:prstGeom>
          <a:noFill/>
          <a:ln>
            <a:noFill/>
          </a:ln>
        </p:spPr>
        <p:txBody>
          <a:bodyPr wrap="square" lIns="0" tIns="0" rIns="0" bIns="0" anchor="t">
            <a:spAutoFit/>
          </a:bodyPr>
          <a:lstStyle/>
          <a:p>
            <a:pPr algn="ctr"/>
            <a:r>
              <a:rPr sz="1300" b="1" i="0" dirty="0">
                <a:solidFill>
                  <a:srgbClr val="1F2728"/>
                </a:solidFill>
                <a:latin typeface="Roboto"/>
              </a:rPr>
              <a:t>Load and Merge Operations</a:t>
            </a:r>
          </a:p>
          <a:p>
            <a:pPr algn="ctr">
              <a:spcAft>
                <a:spcPts val="1200"/>
              </a:spcAft>
            </a:pPr>
            <a:r>
              <a:rPr sz="1400" b="0" i="0" dirty="0" err="1">
                <a:solidFill>
                  <a:srgbClr val="1F2728"/>
                </a:solidFill>
                <a:latin typeface="Roboto"/>
              </a:rPr>
              <a:t>PySpark</a:t>
            </a:r>
            <a:r>
              <a:rPr sz="1400" b="0" i="0" dirty="0">
                <a:solidFill>
                  <a:srgbClr val="1F2728"/>
                </a:solidFill>
                <a:latin typeface="Roboto"/>
              </a:rPr>
              <a:t> jobs load data from Silver layer and perform MERGE/UPSERT into fact and dimension tables.</a:t>
            </a:r>
          </a:p>
        </p:txBody>
      </p:sp>
      <p:sp>
        <p:nvSpPr>
          <p:cNvPr id="25" name="Rectangle 24"/>
          <p:cNvSpPr/>
          <p:nvPr/>
        </p:nvSpPr>
        <p:spPr>
          <a:xfrm>
            <a:off x="228600" y="3276153"/>
            <a:ext cx="4171950" cy="157698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2860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2860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162175" y="3276153"/>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162175" y="3276153"/>
            <a:ext cx="304800" cy="304800"/>
          </a:xfrm>
          <a:prstGeom prst="rect">
            <a:avLst/>
          </a:prstGeom>
          <a:noFill/>
          <a:ln>
            <a:noFill/>
          </a:ln>
        </p:spPr>
        <p:txBody>
          <a:bodyPr wrap="square" lIns="0" tIns="0" rIns="0" bIns="0" anchor="t">
            <a:spAutoFit/>
          </a:bodyPr>
          <a:lstStyle/>
          <a:p>
            <a:pPr algn="ctr"/>
            <a:endParaRPr/>
          </a:p>
        </p:txBody>
      </p:sp>
      <p:pic>
        <p:nvPicPr>
          <p:cNvPr id="30" name="Picture 29" descr="tmpwhroansx.png"/>
          <p:cNvPicPr>
            <a:picLocks noChangeAspect="1"/>
          </p:cNvPicPr>
          <p:nvPr/>
        </p:nvPicPr>
        <p:blipFill>
          <a:blip r:embed="rId4"/>
          <a:stretch>
            <a:fillRect/>
          </a:stretch>
        </p:blipFill>
        <p:spPr>
          <a:xfrm>
            <a:off x="2162175" y="3276153"/>
            <a:ext cx="304800" cy="304800"/>
          </a:xfrm>
          <a:prstGeom prst="rect">
            <a:avLst/>
          </a:prstGeom>
        </p:spPr>
      </p:pic>
      <p:sp>
        <p:nvSpPr>
          <p:cNvPr id="31" name="TextBox 30"/>
          <p:cNvSpPr txBox="1"/>
          <p:nvPr/>
        </p:nvSpPr>
        <p:spPr>
          <a:xfrm>
            <a:off x="228600" y="3695253"/>
            <a:ext cx="4171950" cy="228600"/>
          </a:xfrm>
          <a:prstGeom prst="rect">
            <a:avLst/>
          </a:prstGeom>
          <a:noFill/>
          <a:ln>
            <a:noFill/>
          </a:ln>
        </p:spPr>
        <p:txBody>
          <a:bodyPr wrap="square" lIns="0" tIns="0" rIns="0" bIns="0" anchor="t">
            <a:spAutoFit/>
          </a:bodyPr>
          <a:lstStyle/>
          <a:p>
            <a:pPr algn="ctr"/>
            <a:r>
              <a:rPr sz="1300" b="1" i="0">
                <a:solidFill>
                  <a:srgbClr val="1F2728"/>
                </a:solidFill>
                <a:latin typeface="Roboto"/>
              </a:rPr>
              <a:t>Data Quality Enforcement</a:t>
            </a:r>
          </a:p>
          <a:p>
            <a:pPr algn="ctr">
              <a:spcAft>
                <a:spcPts val="1200"/>
              </a:spcAft>
            </a:pPr>
            <a:r>
              <a:rPr sz="1400" b="0" i="0">
                <a:solidFill>
                  <a:srgbClr val="1F2728"/>
                </a:solidFill>
                <a:latin typeface="Roboto"/>
              </a:rPr>
              <a:t>Automated validation ensures referential integrity and schema consistency before loading.</a:t>
            </a:r>
          </a:p>
        </p:txBody>
      </p:sp>
      <p:sp>
        <p:nvSpPr>
          <p:cNvPr id="32" name="Rectangle 31"/>
          <p:cNvSpPr/>
          <p:nvPr/>
        </p:nvSpPr>
        <p:spPr>
          <a:xfrm>
            <a:off x="4591050" y="3276153"/>
            <a:ext cx="4171950" cy="157698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9105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59105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524625" y="3276153"/>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24625" y="3276153"/>
            <a:ext cx="304800" cy="304800"/>
          </a:xfrm>
          <a:prstGeom prst="rect">
            <a:avLst/>
          </a:prstGeom>
          <a:noFill/>
          <a:ln>
            <a:noFill/>
          </a:ln>
        </p:spPr>
        <p:txBody>
          <a:bodyPr wrap="square" lIns="0" tIns="0" rIns="0" bIns="0" anchor="t">
            <a:spAutoFit/>
          </a:bodyPr>
          <a:lstStyle/>
          <a:p>
            <a:pPr algn="ctr"/>
            <a:endParaRPr/>
          </a:p>
        </p:txBody>
      </p:sp>
      <p:pic>
        <p:nvPicPr>
          <p:cNvPr id="37" name="Picture 36" descr="tmpl4gpjzk7.png"/>
          <p:cNvPicPr>
            <a:picLocks noChangeAspect="1"/>
          </p:cNvPicPr>
          <p:nvPr/>
        </p:nvPicPr>
        <p:blipFill>
          <a:blip r:embed="rId5"/>
          <a:stretch>
            <a:fillRect/>
          </a:stretch>
        </p:blipFill>
        <p:spPr>
          <a:xfrm>
            <a:off x="6657973" y="2626910"/>
            <a:ext cx="304800" cy="304800"/>
          </a:xfrm>
          <a:prstGeom prst="rect">
            <a:avLst/>
          </a:prstGeom>
        </p:spPr>
      </p:pic>
      <p:sp>
        <p:nvSpPr>
          <p:cNvPr id="38" name="TextBox 37"/>
          <p:cNvSpPr txBox="1"/>
          <p:nvPr/>
        </p:nvSpPr>
        <p:spPr>
          <a:xfrm>
            <a:off x="4724398" y="3192214"/>
            <a:ext cx="4171950" cy="228600"/>
          </a:xfrm>
          <a:prstGeom prst="rect">
            <a:avLst/>
          </a:prstGeom>
          <a:noFill/>
          <a:ln>
            <a:noFill/>
          </a:ln>
        </p:spPr>
        <p:txBody>
          <a:bodyPr wrap="square" lIns="0" tIns="0" rIns="0" bIns="0" anchor="t">
            <a:spAutoFit/>
          </a:bodyPr>
          <a:lstStyle/>
          <a:p>
            <a:pPr algn="ctr"/>
            <a:r>
              <a:rPr sz="1300" b="1" i="0" dirty="0">
                <a:solidFill>
                  <a:srgbClr val="1F2728"/>
                </a:solidFill>
                <a:latin typeface="Roboto"/>
              </a:rPr>
              <a:t>Orchestration</a:t>
            </a:r>
          </a:p>
          <a:p>
            <a:pPr algn="ctr">
              <a:spcAft>
                <a:spcPts val="1200"/>
              </a:spcAft>
            </a:pPr>
            <a:r>
              <a:rPr sz="1400" b="0" i="0" dirty="0">
                <a:solidFill>
                  <a:srgbClr val="1F2728"/>
                </a:solidFill>
                <a:latin typeface="Roboto"/>
              </a:rPr>
              <a:t>ETL pipelines are orchestrated through Azure Data Factory and scheduled via Azure Functions.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Real-Time Fraud Detection</a:t>
            </a:r>
          </a:p>
        </p:txBody>
      </p:sp>
      <p:sp>
        <p:nvSpPr>
          <p:cNvPr id="4" name="Subtitle 3"/>
          <p:cNvSpPr>
            <a:spLocks noGrp="1"/>
          </p:cNvSpPr>
          <p:nvPr>
            <p:ph type="subTitle" idx="13"/>
          </p:nvPr>
        </p:nvSpPr>
        <p:spPr/>
        <p:txBody>
          <a:bodyPr>
            <a:normAutofit/>
          </a:bodyPr>
          <a:lstStyle/>
          <a:p>
            <a:r>
              <a:t>Event-Driven Anomaly Detection with Azure Functions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4167931"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8152" y="1361248"/>
            <a:ext cx="4167931" cy="3639458"/>
          </a:xfrm>
          <a:prstGeom prst="rect">
            <a:avLst/>
          </a:prstGeom>
          <a:noFill/>
          <a:ln>
            <a:noFill/>
          </a:ln>
        </p:spPr>
        <p:txBody>
          <a:bodyPr wrap="square" lIns="165100" tIns="0" rIns="0" bIns="190500" anchor="t">
            <a:spAutoFit/>
          </a:bodyPr>
          <a:lstStyle/>
          <a:p>
            <a:pPr marL="228600" indent="-91440" algn="l">
              <a:spcBef>
                <a:spcPts val="0"/>
              </a:spcBef>
              <a:spcAft>
                <a:spcPts val="0"/>
              </a:spcAft>
              <a:buSzPct val="105555"/>
              <a:buFont typeface="Arial"/>
              <a:buChar char="•"/>
            </a:pPr>
            <a:r>
              <a:rPr sz="1400" b="1" i="0" dirty="0">
                <a:solidFill>
                  <a:srgbClr val="1F2728"/>
                </a:solidFill>
                <a:latin typeface="Roboto"/>
              </a:rPr>
              <a:t>Event Triggers:</a:t>
            </a:r>
            <a:r>
              <a:rPr sz="1400" b="0" i="0" dirty="0">
                <a:solidFill>
                  <a:srgbClr val="1F2728"/>
                </a:solidFill>
                <a:latin typeface="Roboto"/>
              </a:rPr>
              <a:t> High-value transactions (e.g., ₹50,000+) trigger immediate fraud analysis via Event Grid.</a:t>
            </a:r>
            <a:endParaRPr lang="en-US" sz="1400" b="0" i="0" dirty="0">
              <a:solidFill>
                <a:srgbClr val="1F2728"/>
              </a:solidFill>
              <a:latin typeface="Roboto"/>
            </a:endParaRPr>
          </a:p>
          <a:p>
            <a:pPr marL="137160" algn="l">
              <a:spcBef>
                <a:spcPts val="0"/>
              </a:spcBef>
              <a:spcAft>
                <a:spcPts val="0"/>
              </a:spcAft>
              <a:buSzPct val="105555"/>
            </a:pPr>
            <a:endParaRPr sz="1400" b="0" i="0" dirty="0">
              <a:solidFill>
                <a:srgbClr val="1F2728"/>
              </a:solidFill>
              <a:latin typeface="Roboto"/>
            </a:endParaRPr>
          </a:p>
          <a:p>
            <a:pPr marL="228600" lvl="1" indent="-91440" algn="l">
              <a:spcBef>
                <a:spcPts val="0"/>
              </a:spcBef>
              <a:spcAft>
                <a:spcPts val="0"/>
              </a:spcAft>
              <a:buSzPct val="105555"/>
              <a:buFont typeface="Arial"/>
              <a:buChar char="•"/>
            </a:pPr>
            <a:r>
              <a:rPr sz="1400" b="1" i="0" dirty="0">
                <a:solidFill>
                  <a:srgbClr val="1F2728"/>
                </a:solidFill>
                <a:latin typeface="Roboto"/>
              </a:rPr>
              <a:t>Anomaly Detection:</a:t>
            </a:r>
            <a:r>
              <a:rPr sz="1400" b="0" i="0" dirty="0">
                <a:solidFill>
                  <a:srgbClr val="1F2728"/>
                </a:solidFill>
                <a:latin typeface="Roboto"/>
              </a:rPr>
              <a:t> Azure Functions apply rule-based logic to identify suspicious behaviors such as location anomalies or rapid withdrawals.</a:t>
            </a:r>
            <a:endParaRPr lang="en-US" sz="1400" b="0" i="0" dirty="0">
              <a:solidFill>
                <a:srgbClr val="1F2728"/>
              </a:solidFill>
              <a:latin typeface="Roboto"/>
            </a:endParaRPr>
          </a:p>
          <a:p>
            <a:pPr marL="137160" lvl="1" algn="l">
              <a:spcBef>
                <a:spcPts val="0"/>
              </a:spcBef>
              <a:spcAft>
                <a:spcPts val="0"/>
              </a:spcAft>
              <a:buSzPct val="105555"/>
            </a:pPr>
            <a:endParaRPr sz="1400" b="0" i="0" dirty="0">
              <a:solidFill>
                <a:srgbClr val="1F2728"/>
              </a:solidFill>
              <a:latin typeface="Roboto"/>
            </a:endParaRPr>
          </a:p>
          <a:p>
            <a:pPr marL="228600" lvl="1" indent="-91440" algn="l">
              <a:spcBef>
                <a:spcPts val="0"/>
              </a:spcBef>
              <a:spcAft>
                <a:spcPts val="0"/>
              </a:spcAft>
              <a:buSzPct val="105555"/>
              <a:buFont typeface="Arial"/>
              <a:buChar char="•"/>
            </a:pPr>
            <a:r>
              <a:rPr sz="1400" b="1" i="0" dirty="0">
                <a:solidFill>
                  <a:srgbClr val="1F2728"/>
                </a:solidFill>
                <a:latin typeface="Roboto"/>
              </a:rPr>
              <a:t>Alert and Action:</a:t>
            </a:r>
            <a:r>
              <a:rPr sz="1400" b="0" i="0" dirty="0">
                <a:solidFill>
                  <a:srgbClr val="1F2728"/>
                </a:solidFill>
                <a:latin typeface="Roboto"/>
              </a:rPr>
              <a:t> Fraud alerts are stored in Cosmos DB and trigger customer notifications via Service Bus.</a:t>
            </a:r>
            <a:endParaRPr lang="en-US" sz="1400" b="0" i="0" dirty="0">
              <a:solidFill>
                <a:srgbClr val="1F2728"/>
              </a:solidFill>
              <a:latin typeface="Roboto"/>
            </a:endParaRPr>
          </a:p>
          <a:p>
            <a:pPr marL="137160" lvl="1" algn="l">
              <a:spcBef>
                <a:spcPts val="0"/>
              </a:spcBef>
              <a:spcAft>
                <a:spcPts val="0"/>
              </a:spcAft>
              <a:buSzPct val="105555"/>
            </a:pPr>
            <a:endParaRPr sz="1400" b="0" i="0" dirty="0">
              <a:solidFill>
                <a:srgbClr val="1F2728"/>
              </a:solidFill>
              <a:latin typeface="Roboto"/>
            </a:endParaRPr>
          </a:p>
          <a:p>
            <a:pPr marL="228600" lvl="1" indent="-91440" algn="l">
              <a:spcBef>
                <a:spcPts val="0"/>
              </a:spcBef>
              <a:spcAft>
                <a:spcPts val="0"/>
              </a:spcAft>
              <a:buSzPct val="105555"/>
              <a:buFont typeface="Arial"/>
              <a:buChar char="•"/>
            </a:pPr>
            <a:r>
              <a:rPr sz="1400" b="1" i="0" dirty="0">
                <a:solidFill>
                  <a:srgbClr val="1F2728"/>
                </a:solidFill>
                <a:latin typeface="Roboto"/>
              </a:rPr>
              <a:t>Response Time:</a:t>
            </a:r>
            <a:r>
              <a:rPr sz="1400" b="0" i="0" dirty="0">
                <a:solidFill>
                  <a:srgbClr val="1F2728"/>
                </a:solidFill>
                <a:latin typeface="Roboto"/>
              </a:rPr>
              <a:t> Alerts are generated in near real-time, ensuring rapid risk mitigation and customer protection.</a:t>
            </a:r>
          </a:p>
        </p:txBody>
      </p:sp>
      <p:sp>
        <p:nvSpPr>
          <p:cNvPr id="12" name="Rectangle 11"/>
          <p:cNvSpPr/>
          <p:nvPr/>
        </p:nvSpPr>
        <p:spPr>
          <a:xfrm>
            <a:off x="4594621" y="1508670"/>
            <a:ext cx="4167931" cy="260359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94621" y="1508670"/>
            <a:ext cx="4167931" cy="260359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94621" y="1508670"/>
            <a:ext cx="4167931" cy="2346424"/>
          </a:xfrm>
          <a:prstGeom prst="rect">
            <a:avLst/>
          </a:prstGeom>
          <a:noFill/>
          <a:ln>
            <a:noFill/>
          </a:ln>
        </p:spPr>
        <p:txBody>
          <a:bodyPr wrap="square" lIns="0" tIns="0" rIns="0" bIns="0" anchor="t">
            <a:spAutoFit/>
          </a:bodyPr>
          <a:lstStyle/>
          <a:p>
            <a:pPr algn="l"/>
            <a:endParaRPr/>
          </a:p>
        </p:txBody>
      </p:sp>
      <p:pic>
        <p:nvPicPr>
          <p:cNvPr id="15" name="Picture 14" descr="tmp8vubbqz9.png"/>
          <p:cNvPicPr>
            <a:picLocks noChangeAspect="1"/>
          </p:cNvPicPr>
          <p:nvPr/>
        </p:nvPicPr>
        <p:blipFill>
          <a:blip r:embed="rId3"/>
          <a:stretch>
            <a:fillRect/>
          </a:stretch>
        </p:blipFill>
        <p:spPr>
          <a:xfrm>
            <a:off x="4594621" y="1508670"/>
            <a:ext cx="4167931" cy="2346424"/>
          </a:xfrm>
          <a:prstGeom prst="rect">
            <a:avLst/>
          </a:prstGeom>
        </p:spPr>
      </p:pic>
      <p:sp>
        <p:nvSpPr>
          <p:cNvPr id="16" name="Rectangle 15"/>
          <p:cNvSpPr/>
          <p:nvPr/>
        </p:nvSpPr>
        <p:spPr>
          <a:xfrm>
            <a:off x="4594621" y="3931294"/>
            <a:ext cx="4167931" cy="18097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Project Challenges</a:t>
            </a:r>
          </a:p>
        </p:txBody>
      </p:sp>
      <p:sp>
        <p:nvSpPr>
          <p:cNvPr id="4" name="Subtitle 3"/>
          <p:cNvSpPr>
            <a:spLocks noGrp="1"/>
          </p:cNvSpPr>
          <p:nvPr>
            <p:ph type="subTitle" idx="13"/>
          </p:nvPr>
        </p:nvSpPr>
        <p:spPr/>
        <p:txBody>
          <a:bodyPr>
            <a:normAutofit/>
          </a:bodyPr>
          <a:lstStyle/>
          <a:p>
            <a:r>
              <a:rPr lang="en-US" dirty="0"/>
              <a:t>Key Obstacles in Building the Azure Banking Data Platform</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28600" y="1508670"/>
            <a:ext cx="4171950" cy="16836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28600" y="1508670"/>
            <a:ext cx="4171950" cy="16836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28600" y="1508670"/>
            <a:ext cx="4171950" cy="16836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162175"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162175" y="1508670"/>
            <a:ext cx="304800" cy="304800"/>
          </a:xfrm>
          <a:prstGeom prst="rect">
            <a:avLst/>
          </a:prstGeom>
          <a:noFill/>
          <a:ln>
            <a:noFill/>
          </a:ln>
        </p:spPr>
        <p:txBody>
          <a:bodyPr wrap="square" lIns="0" tIns="0" rIns="0" bIns="0" anchor="t">
            <a:spAutoFit/>
          </a:bodyPr>
          <a:lstStyle/>
          <a:p>
            <a:pPr algn="ctr"/>
            <a:endParaRPr/>
          </a:p>
        </p:txBody>
      </p:sp>
      <p:sp>
        <p:nvSpPr>
          <p:cNvPr id="17" name="TextBox 16"/>
          <p:cNvSpPr txBox="1"/>
          <p:nvPr/>
        </p:nvSpPr>
        <p:spPr>
          <a:xfrm>
            <a:off x="228600" y="1927770"/>
            <a:ext cx="4171950" cy="1046440"/>
          </a:xfrm>
          <a:prstGeom prst="rect">
            <a:avLst/>
          </a:prstGeom>
          <a:noFill/>
          <a:ln>
            <a:noFill/>
          </a:ln>
        </p:spPr>
        <p:txBody>
          <a:bodyPr wrap="square" lIns="0" tIns="0" rIns="0" bIns="0" anchor="t">
            <a:spAutoFit/>
          </a:bodyPr>
          <a:lstStyle/>
          <a:p>
            <a:pPr algn="ctr"/>
            <a:r>
              <a:rPr lang="en-US" sz="1200" b="1" dirty="0">
                <a:solidFill>
                  <a:srgbClr val="1F2728"/>
                </a:solidFill>
                <a:latin typeface="Roboto"/>
              </a:rPr>
              <a:t>Integration Complexity</a:t>
            </a:r>
          </a:p>
          <a:p>
            <a:pPr algn="ctr">
              <a:spcAft>
                <a:spcPts val="1200"/>
              </a:spcAft>
            </a:pPr>
            <a:r>
              <a:rPr lang="en-US" dirty="0">
                <a:solidFill>
                  <a:srgbClr val="1F2728"/>
                </a:solidFill>
                <a:latin typeface="Roboto"/>
              </a:rPr>
              <a:t>Coordinating event-driven services (Event Grid, Service Bus, Functions) and data layers (Cosmos DB, Azure SQL) required careful dependency orchestration.</a:t>
            </a:r>
          </a:p>
        </p:txBody>
      </p:sp>
      <p:sp>
        <p:nvSpPr>
          <p:cNvPr id="18" name="Rectangle 17"/>
          <p:cNvSpPr/>
          <p:nvPr/>
        </p:nvSpPr>
        <p:spPr>
          <a:xfrm>
            <a:off x="4591050" y="1508670"/>
            <a:ext cx="4171950" cy="16836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91050" y="1508670"/>
            <a:ext cx="4171950" cy="16836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91050" y="1508670"/>
            <a:ext cx="4171950" cy="16836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524625"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24625" y="1508670"/>
            <a:ext cx="304800" cy="304800"/>
          </a:xfrm>
          <a:prstGeom prst="rect">
            <a:avLst/>
          </a:prstGeom>
          <a:noFill/>
          <a:ln>
            <a:noFill/>
          </a:ln>
        </p:spPr>
        <p:txBody>
          <a:bodyPr wrap="square" lIns="0" tIns="0" rIns="0" bIns="0" anchor="t">
            <a:spAutoFit/>
          </a:bodyPr>
          <a:lstStyle/>
          <a:p>
            <a:pPr algn="ctr"/>
            <a:endParaRPr/>
          </a:p>
        </p:txBody>
      </p:sp>
      <p:sp>
        <p:nvSpPr>
          <p:cNvPr id="24" name="TextBox 23"/>
          <p:cNvSpPr txBox="1"/>
          <p:nvPr/>
        </p:nvSpPr>
        <p:spPr>
          <a:xfrm>
            <a:off x="4591050" y="1927770"/>
            <a:ext cx="4171950" cy="830997"/>
          </a:xfrm>
          <a:prstGeom prst="rect">
            <a:avLst/>
          </a:prstGeom>
          <a:noFill/>
          <a:ln>
            <a:noFill/>
          </a:ln>
        </p:spPr>
        <p:txBody>
          <a:bodyPr wrap="square" lIns="0" tIns="0" rIns="0" bIns="0" anchor="t">
            <a:spAutoFit/>
          </a:bodyPr>
          <a:lstStyle/>
          <a:p>
            <a:pPr algn="ctr"/>
            <a:r>
              <a:rPr lang="en-US" sz="1200" b="1" dirty="0">
                <a:solidFill>
                  <a:srgbClr val="1F2728"/>
                </a:solidFill>
                <a:latin typeface="Roboto"/>
              </a:rPr>
              <a:t>Data Quality Issues</a:t>
            </a:r>
          </a:p>
          <a:p>
            <a:pPr algn="ctr">
              <a:spcAft>
                <a:spcPts val="1200"/>
              </a:spcAft>
            </a:pPr>
            <a:r>
              <a:rPr lang="en-US" dirty="0">
                <a:solidFill>
                  <a:srgbClr val="1F2728"/>
                </a:solidFill>
                <a:latin typeface="Roboto"/>
              </a:rPr>
              <a:t>Inconsistent schemas and data types across ATM, UPI, and core banking systems demanded dynamic validation and cleansing logic.</a:t>
            </a:r>
          </a:p>
        </p:txBody>
      </p:sp>
      <p:sp>
        <p:nvSpPr>
          <p:cNvPr id="25" name="Rectangle 24"/>
          <p:cNvSpPr/>
          <p:nvPr/>
        </p:nvSpPr>
        <p:spPr>
          <a:xfrm>
            <a:off x="228600" y="3382863"/>
            <a:ext cx="4171950" cy="147027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28600" y="3382863"/>
            <a:ext cx="4171950" cy="147027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28600" y="3382863"/>
            <a:ext cx="4171950" cy="147027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162175" y="3382863"/>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162175" y="3382863"/>
            <a:ext cx="304800" cy="304800"/>
          </a:xfrm>
          <a:prstGeom prst="rect">
            <a:avLst/>
          </a:prstGeom>
          <a:noFill/>
          <a:ln>
            <a:noFill/>
          </a:ln>
        </p:spPr>
        <p:txBody>
          <a:bodyPr wrap="square" lIns="0" tIns="0" rIns="0" bIns="0" anchor="t">
            <a:spAutoFit/>
          </a:bodyPr>
          <a:lstStyle/>
          <a:p>
            <a:pPr algn="ctr"/>
            <a:endParaRPr/>
          </a:p>
        </p:txBody>
      </p:sp>
      <p:sp>
        <p:nvSpPr>
          <p:cNvPr id="31" name="TextBox 30"/>
          <p:cNvSpPr txBox="1"/>
          <p:nvPr/>
        </p:nvSpPr>
        <p:spPr>
          <a:xfrm>
            <a:off x="228600" y="3801963"/>
            <a:ext cx="4171950" cy="830997"/>
          </a:xfrm>
          <a:prstGeom prst="rect">
            <a:avLst/>
          </a:prstGeom>
          <a:noFill/>
          <a:ln>
            <a:noFill/>
          </a:ln>
        </p:spPr>
        <p:txBody>
          <a:bodyPr wrap="square" lIns="0" tIns="0" rIns="0" bIns="0" anchor="t">
            <a:spAutoFit/>
          </a:bodyPr>
          <a:lstStyle/>
          <a:p>
            <a:pPr algn="ctr"/>
            <a:r>
              <a:rPr lang="en-US" sz="1200" b="1" dirty="0">
                <a:solidFill>
                  <a:srgbClr val="1F2728"/>
                </a:solidFill>
                <a:latin typeface="Roboto"/>
              </a:rPr>
              <a:t>Security Configuration</a:t>
            </a:r>
          </a:p>
          <a:p>
            <a:pPr algn="ctr">
              <a:spcAft>
                <a:spcPts val="1200"/>
              </a:spcAft>
            </a:pPr>
            <a:r>
              <a:rPr lang="en-US" dirty="0">
                <a:solidFill>
                  <a:srgbClr val="1F2728"/>
                </a:solidFill>
                <a:latin typeface="Roboto"/>
              </a:rPr>
              <a:t>Implementing </a:t>
            </a:r>
            <a:r>
              <a:rPr lang="en-US" dirty="0" err="1">
                <a:solidFill>
                  <a:srgbClr val="1F2728"/>
                </a:solidFill>
                <a:latin typeface="Roboto"/>
              </a:rPr>
              <a:t>VNet</a:t>
            </a:r>
            <a:r>
              <a:rPr lang="en-US" dirty="0">
                <a:solidFill>
                  <a:srgbClr val="1F2728"/>
                </a:solidFill>
                <a:latin typeface="Roboto"/>
              </a:rPr>
              <a:t> isolation, firewall rules, and role-based access controls without disrupting pipelines posed major challenges.</a:t>
            </a:r>
          </a:p>
        </p:txBody>
      </p:sp>
      <p:sp>
        <p:nvSpPr>
          <p:cNvPr id="32" name="Rectangle 31"/>
          <p:cNvSpPr/>
          <p:nvPr/>
        </p:nvSpPr>
        <p:spPr>
          <a:xfrm>
            <a:off x="4591050" y="3382863"/>
            <a:ext cx="4171950" cy="147027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91050" y="3382863"/>
            <a:ext cx="4171950" cy="147027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591050" y="3382863"/>
            <a:ext cx="4171950" cy="147027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524625" y="3382863"/>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24625" y="3382863"/>
            <a:ext cx="304800" cy="304800"/>
          </a:xfrm>
          <a:prstGeom prst="rect">
            <a:avLst/>
          </a:prstGeom>
          <a:noFill/>
          <a:ln>
            <a:noFill/>
          </a:ln>
        </p:spPr>
        <p:txBody>
          <a:bodyPr wrap="square" lIns="0" tIns="0" rIns="0" bIns="0" anchor="t">
            <a:spAutoFit/>
          </a:bodyPr>
          <a:lstStyle/>
          <a:p>
            <a:pPr algn="ctr"/>
            <a:endParaRPr/>
          </a:p>
        </p:txBody>
      </p:sp>
      <p:sp>
        <p:nvSpPr>
          <p:cNvPr id="38" name="TextBox 37"/>
          <p:cNvSpPr txBox="1"/>
          <p:nvPr/>
        </p:nvSpPr>
        <p:spPr>
          <a:xfrm>
            <a:off x="4591050" y="3801963"/>
            <a:ext cx="4171950" cy="830997"/>
          </a:xfrm>
          <a:prstGeom prst="rect">
            <a:avLst/>
          </a:prstGeom>
          <a:noFill/>
          <a:ln>
            <a:noFill/>
          </a:ln>
        </p:spPr>
        <p:txBody>
          <a:bodyPr wrap="square" lIns="0" tIns="0" rIns="0" bIns="0" anchor="t">
            <a:spAutoFit/>
          </a:bodyPr>
          <a:lstStyle/>
          <a:p>
            <a:pPr algn="ctr"/>
            <a:r>
              <a:rPr lang="en-US" sz="1200" b="1" dirty="0">
                <a:solidFill>
                  <a:srgbClr val="1F2728"/>
                </a:solidFill>
                <a:latin typeface="Roboto"/>
              </a:rPr>
              <a:t>Performance Optimization</a:t>
            </a:r>
          </a:p>
          <a:p>
            <a:pPr algn="ctr">
              <a:spcAft>
                <a:spcPts val="1200"/>
              </a:spcAft>
            </a:pPr>
            <a:r>
              <a:rPr lang="en-US" dirty="0">
                <a:solidFill>
                  <a:srgbClr val="1F2728"/>
                </a:solidFill>
                <a:latin typeface="Roboto"/>
              </a:rPr>
              <a:t>Tuning </a:t>
            </a:r>
            <a:r>
              <a:rPr lang="en-US" dirty="0" err="1">
                <a:solidFill>
                  <a:srgbClr val="1F2728"/>
                </a:solidFill>
                <a:latin typeface="Roboto"/>
              </a:rPr>
              <a:t>PySpark</a:t>
            </a:r>
            <a:r>
              <a:rPr lang="en-US" dirty="0">
                <a:solidFill>
                  <a:srgbClr val="1F2728"/>
                </a:solidFill>
                <a:latin typeface="Roboto"/>
              </a:rPr>
              <a:t> clusters and scaling event ingestion pipelines to handle millions of transactions daily required advanced optimization.</a:t>
            </a:r>
          </a:p>
        </p:txBody>
      </p:sp>
      <p:pic>
        <p:nvPicPr>
          <p:cNvPr id="3" name="Picture 2">
            <a:extLst>
              <a:ext uri="{FF2B5EF4-FFF2-40B4-BE49-F238E27FC236}">
                <a16:creationId xmlns:a16="http://schemas.microsoft.com/office/drawing/2014/main" id="{39A66E11-41C4-03CF-514B-1EC384DDA577}"/>
              </a:ext>
            </a:extLst>
          </p:cNvPr>
          <p:cNvPicPr>
            <a:picLocks noChangeAspect="1"/>
          </p:cNvPicPr>
          <p:nvPr/>
        </p:nvPicPr>
        <p:blipFill>
          <a:blip r:embed="rId3"/>
          <a:stretch>
            <a:fillRect/>
          </a:stretch>
        </p:blipFill>
        <p:spPr>
          <a:xfrm>
            <a:off x="2162175" y="1451521"/>
            <a:ext cx="304800" cy="304800"/>
          </a:xfrm>
          <a:prstGeom prst="rect">
            <a:avLst/>
          </a:prstGeom>
        </p:spPr>
      </p:pic>
      <p:pic>
        <p:nvPicPr>
          <p:cNvPr id="39" name="Picture 38">
            <a:extLst>
              <a:ext uri="{FF2B5EF4-FFF2-40B4-BE49-F238E27FC236}">
                <a16:creationId xmlns:a16="http://schemas.microsoft.com/office/drawing/2014/main" id="{FCFF37E1-2FD2-01EF-3150-6A6321286865}"/>
              </a:ext>
            </a:extLst>
          </p:cNvPr>
          <p:cNvPicPr>
            <a:picLocks noChangeAspect="1"/>
          </p:cNvPicPr>
          <p:nvPr/>
        </p:nvPicPr>
        <p:blipFill>
          <a:blip r:embed="rId4"/>
          <a:stretch>
            <a:fillRect/>
          </a:stretch>
        </p:blipFill>
        <p:spPr>
          <a:xfrm>
            <a:off x="6517479" y="1527720"/>
            <a:ext cx="304800" cy="304800"/>
          </a:xfrm>
          <a:prstGeom prst="rect">
            <a:avLst/>
          </a:prstGeom>
        </p:spPr>
      </p:pic>
      <p:pic>
        <p:nvPicPr>
          <p:cNvPr id="40" name="Picture 39">
            <a:extLst>
              <a:ext uri="{FF2B5EF4-FFF2-40B4-BE49-F238E27FC236}">
                <a16:creationId xmlns:a16="http://schemas.microsoft.com/office/drawing/2014/main" id="{66CA2A02-97EA-B17B-F33F-4B0E81B3595B}"/>
              </a:ext>
            </a:extLst>
          </p:cNvPr>
          <p:cNvPicPr>
            <a:picLocks noChangeAspect="1"/>
          </p:cNvPicPr>
          <p:nvPr/>
        </p:nvPicPr>
        <p:blipFill>
          <a:blip r:embed="rId5"/>
          <a:stretch>
            <a:fillRect/>
          </a:stretch>
        </p:blipFill>
        <p:spPr>
          <a:xfrm>
            <a:off x="2112167" y="3287613"/>
            <a:ext cx="304800" cy="304800"/>
          </a:xfrm>
          <a:prstGeom prst="rect">
            <a:avLst/>
          </a:prstGeom>
        </p:spPr>
      </p:pic>
      <p:pic>
        <p:nvPicPr>
          <p:cNvPr id="41" name="Picture 40">
            <a:extLst>
              <a:ext uri="{FF2B5EF4-FFF2-40B4-BE49-F238E27FC236}">
                <a16:creationId xmlns:a16="http://schemas.microsoft.com/office/drawing/2014/main" id="{6A8C3717-27C3-57A1-FF4D-A7BD7BE093B1}"/>
              </a:ext>
            </a:extLst>
          </p:cNvPr>
          <p:cNvPicPr>
            <a:picLocks noChangeAspect="1"/>
          </p:cNvPicPr>
          <p:nvPr/>
        </p:nvPicPr>
        <p:blipFill>
          <a:blip r:embed="rId6"/>
          <a:stretch>
            <a:fillRect/>
          </a:stretch>
        </p:blipFill>
        <p:spPr>
          <a:xfrm>
            <a:off x="6600825" y="3382863"/>
            <a:ext cx="304800" cy="304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CI/CD Pipeline Automation</a:t>
            </a:r>
          </a:p>
        </p:txBody>
      </p:sp>
      <p:sp>
        <p:nvSpPr>
          <p:cNvPr id="4" name="Subtitle 3"/>
          <p:cNvSpPr>
            <a:spLocks noGrp="1"/>
          </p:cNvSpPr>
          <p:nvPr>
            <p:ph type="subTitle" idx="13"/>
          </p:nvPr>
        </p:nvSpPr>
        <p:spPr/>
        <p:txBody>
          <a:bodyPr>
            <a:normAutofit/>
          </a:bodyPr>
          <a:lstStyle/>
          <a:p>
            <a:r>
              <a:rPr dirty="0"/>
              <a:t>GitHub Actions for Continuous Delivery</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4154685" cy="334506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8600" y="1508670"/>
            <a:ext cx="4154685" cy="1485022"/>
          </a:xfrm>
          <a:prstGeom prst="rect">
            <a:avLst/>
          </a:prstGeom>
          <a:noFill/>
          <a:ln>
            <a:noFill/>
          </a:ln>
        </p:spPr>
        <p:txBody>
          <a:bodyPr wrap="square" lIns="165100" tIns="0" rIns="0" bIns="190500" anchor="t">
            <a:spAutoFit/>
          </a:bodyPr>
          <a:lstStyle/>
          <a:p>
            <a:pPr marL="228600" indent="-91440" algn="l">
              <a:spcBef>
                <a:spcPts val="0"/>
              </a:spcBef>
              <a:spcAft>
                <a:spcPts val="0"/>
              </a:spcAft>
              <a:buSzPct val="111111"/>
              <a:buFont typeface="Arial"/>
              <a:buChar char="•"/>
            </a:pPr>
            <a:r>
              <a:rPr sz="1400" b="1" i="0" dirty="0">
                <a:solidFill>
                  <a:srgbClr val="1F2728"/>
                </a:solidFill>
                <a:latin typeface="Roboto"/>
              </a:rPr>
              <a:t>Automated Deployments:</a:t>
            </a:r>
            <a:r>
              <a:rPr sz="1400" b="0" i="0" dirty="0">
                <a:solidFill>
                  <a:srgbClr val="1F2728"/>
                </a:solidFill>
                <a:latin typeface="Roboto"/>
              </a:rPr>
              <a:t> Implements </a:t>
            </a:r>
            <a:r>
              <a:rPr sz="1400" b="0" i="0" dirty="0" err="1">
                <a:solidFill>
                  <a:srgbClr val="1F2728"/>
                </a:solidFill>
                <a:latin typeface="Roboto"/>
              </a:rPr>
              <a:t>GitOps</a:t>
            </a:r>
            <a:r>
              <a:rPr sz="1400" b="0" i="0" dirty="0">
                <a:solidFill>
                  <a:srgbClr val="1F2728"/>
                </a:solidFill>
                <a:latin typeface="Roboto"/>
              </a:rPr>
              <a:t>-driven CI/CD for Functions, </a:t>
            </a:r>
            <a:r>
              <a:rPr sz="1400" b="0" i="0" dirty="0" err="1">
                <a:solidFill>
                  <a:srgbClr val="1F2728"/>
                </a:solidFill>
                <a:latin typeface="Roboto"/>
              </a:rPr>
              <a:t>PySpark</a:t>
            </a:r>
            <a:r>
              <a:rPr sz="1400" b="0" i="0" dirty="0">
                <a:solidFill>
                  <a:srgbClr val="1F2728"/>
                </a:solidFill>
                <a:latin typeface="Roboto"/>
              </a:rPr>
              <a:t> notebooks, and SQL schema migrations.</a:t>
            </a:r>
            <a:endParaRPr lang="en-US" sz="1400" b="0" i="0" dirty="0">
              <a:solidFill>
                <a:srgbClr val="1F2728"/>
              </a:solidFill>
              <a:latin typeface="Roboto"/>
            </a:endParaRPr>
          </a:p>
          <a:p>
            <a:pPr marL="137160"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Version Control Integration:</a:t>
            </a:r>
            <a:r>
              <a:rPr sz="1400" b="0" i="0" dirty="0">
                <a:solidFill>
                  <a:srgbClr val="1F2728"/>
                </a:solidFill>
                <a:latin typeface="Roboto"/>
              </a:rPr>
              <a:t> Source code managed in GitHub with automated build</a:t>
            </a:r>
            <a:r>
              <a:rPr lang="en-US" sz="1400" b="0" i="0" dirty="0">
                <a:solidFill>
                  <a:srgbClr val="1F2728"/>
                </a:solidFill>
                <a:latin typeface="Roboto"/>
              </a:rPr>
              <a:t>.</a:t>
            </a:r>
            <a:endParaRPr sz="1400" b="0" i="0" dirty="0">
              <a:solidFill>
                <a:srgbClr val="1F2728"/>
              </a:solidFill>
              <a:latin typeface="Roboto"/>
            </a:endParaRPr>
          </a:p>
        </p:txBody>
      </p:sp>
      <p:sp>
        <p:nvSpPr>
          <p:cNvPr id="12" name="Rectangle 11"/>
          <p:cNvSpPr/>
          <p:nvPr/>
        </p:nvSpPr>
        <p:spPr>
          <a:xfrm>
            <a:off x="4608165" y="1508670"/>
            <a:ext cx="4154685" cy="260315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608165" y="1508670"/>
            <a:ext cx="4154685" cy="260315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08165" y="1508670"/>
            <a:ext cx="4154685" cy="2338685"/>
          </a:xfrm>
          <a:prstGeom prst="rect">
            <a:avLst/>
          </a:prstGeom>
          <a:noFill/>
          <a:ln>
            <a:noFill/>
          </a:ln>
        </p:spPr>
        <p:txBody>
          <a:bodyPr wrap="square" lIns="0" tIns="0" rIns="0" bIns="0" anchor="t">
            <a:spAutoFit/>
          </a:bodyPr>
          <a:lstStyle/>
          <a:p>
            <a:pPr algn="l"/>
            <a:endParaRPr/>
          </a:p>
        </p:txBody>
      </p:sp>
      <p:pic>
        <p:nvPicPr>
          <p:cNvPr id="15" name="Picture 14" descr="tmpdt00xni0.png"/>
          <p:cNvPicPr>
            <a:picLocks noChangeAspect="1"/>
          </p:cNvPicPr>
          <p:nvPr/>
        </p:nvPicPr>
        <p:blipFill>
          <a:blip r:embed="rId3"/>
          <a:stretch>
            <a:fillRect/>
          </a:stretch>
        </p:blipFill>
        <p:spPr>
          <a:xfrm>
            <a:off x="4608165" y="1508670"/>
            <a:ext cx="4154685" cy="2338685"/>
          </a:xfrm>
          <a:prstGeom prst="rect">
            <a:avLst/>
          </a:prstGeom>
        </p:spPr>
      </p:pic>
      <p:sp>
        <p:nvSpPr>
          <p:cNvPr id="16" name="Rectangle 15"/>
          <p:cNvSpPr/>
          <p:nvPr/>
        </p:nvSpPr>
        <p:spPr>
          <a:xfrm>
            <a:off x="4608165" y="3923555"/>
            <a:ext cx="4154685" cy="188118"/>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Customer 360 Analytics</a:t>
            </a:r>
          </a:p>
        </p:txBody>
      </p:sp>
      <p:sp>
        <p:nvSpPr>
          <p:cNvPr id="4" name="Subtitle 3"/>
          <p:cNvSpPr>
            <a:spLocks noGrp="1"/>
          </p:cNvSpPr>
          <p:nvPr>
            <p:ph type="subTitle" idx="13"/>
          </p:nvPr>
        </p:nvSpPr>
        <p:spPr/>
        <p:txBody>
          <a:bodyPr>
            <a:normAutofit/>
          </a:bodyPr>
          <a:lstStyle/>
          <a:p>
            <a:r>
              <a:t>Unified View of Customer Behavior and Risk</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414263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8600" y="1210362"/>
            <a:ext cx="4142630" cy="3885679"/>
          </a:xfrm>
          <a:prstGeom prst="rect">
            <a:avLst/>
          </a:prstGeom>
          <a:noFill/>
          <a:ln>
            <a:noFill/>
          </a:ln>
        </p:spPr>
        <p:txBody>
          <a:bodyPr wrap="square" lIns="165100" tIns="0" rIns="0" bIns="190500" anchor="t">
            <a:spAutoFit/>
          </a:bodyPr>
          <a:lstStyle/>
          <a:p>
            <a:pPr marL="228600" indent="-91440" algn="l">
              <a:spcBef>
                <a:spcPts val="0"/>
              </a:spcBef>
              <a:spcAft>
                <a:spcPts val="0"/>
              </a:spcAft>
              <a:buSzPct val="111111"/>
              <a:buFont typeface="Arial"/>
              <a:buChar char="•"/>
            </a:pPr>
            <a:r>
              <a:rPr sz="1500" b="1" i="0" dirty="0">
                <a:solidFill>
                  <a:srgbClr val="1F2728"/>
                </a:solidFill>
                <a:latin typeface="Roboto"/>
              </a:rPr>
              <a:t>Data Consolidation:</a:t>
            </a:r>
            <a:r>
              <a:rPr sz="1500" b="0" i="0" dirty="0">
                <a:solidFill>
                  <a:srgbClr val="1F2728"/>
                </a:solidFill>
                <a:latin typeface="Roboto"/>
              </a:rPr>
              <a:t> Combines transactions, demographics, and device data into a unified customer profile.</a:t>
            </a:r>
            <a:endParaRPr lang="en-US" sz="1500" b="0" i="0" dirty="0">
              <a:solidFill>
                <a:srgbClr val="1F2728"/>
              </a:solidFill>
              <a:latin typeface="Roboto"/>
            </a:endParaRPr>
          </a:p>
          <a:p>
            <a:pPr marL="137160" algn="l">
              <a:spcBef>
                <a:spcPts val="0"/>
              </a:spcBef>
              <a:spcAft>
                <a:spcPts val="0"/>
              </a:spcAft>
              <a:buSzPct val="111111"/>
            </a:pPr>
            <a:endParaRPr sz="1500" b="0" i="0" dirty="0">
              <a:solidFill>
                <a:srgbClr val="1F2728"/>
              </a:solidFill>
              <a:latin typeface="Roboto"/>
            </a:endParaRPr>
          </a:p>
          <a:p>
            <a:pPr marL="228600" lvl="1" indent="-91440" algn="l">
              <a:spcBef>
                <a:spcPts val="0"/>
              </a:spcBef>
              <a:spcAft>
                <a:spcPts val="0"/>
              </a:spcAft>
              <a:buSzPct val="111111"/>
              <a:buFont typeface="Arial"/>
              <a:buChar char="•"/>
            </a:pPr>
            <a:r>
              <a:rPr sz="1500" b="1" i="0" dirty="0">
                <a:solidFill>
                  <a:srgbClr val="1F2728"/>
                </a:solidFill>
                <a:latin typeface="Roboto"/>
              </a:rPr>
              <a:t>Comprehensive Insights:</a:t>
            </a:r>
            <a:r>
              <a:rPr sz="1500" b="0" i="0" dirty="0">
                <a:solidFill>
                  <a:srgbClr val="1F2728"/>
                </a:solidFill>
                <a:latin typeface="Roboto"/>
              </a:rPr>
              <a:t> Analyzes spending patterns, credit exposure, and engagement trends to enable personalized offers</a:t>
            </a:r>
            <a:r>
              <a:rPr lang="en-US" sz="1500" b="0" i="0" dirty="0">
                <a:solidFill>
                  <a:srgbClr val="1F2728"/>
                </a:solidFill>
                <a:latin typeface="Roboto"/>
              </a:rPr>
              <a:t>.</a:t>
            </a:r>
          </a:p>
          <a:p>
            <a:pPr marL="137160" lvl="1" algn="l">
              <a:spcBef>
                <a:spcPts val="0"/>
              </a:spcBef>
              <a:spcAft>
                <a:spcPts val="0"/>
              </a:spcAft>
              <a:buSzPct val="111111"/>
            </a:pPr>
            <a:endParaRPr sz="1500" b="0" i="0" dirty="0">
              <a:solidFill>
                <a:srgbClr val="1F2728"/>
              </a:solidFill>
              <a:latin typeface="Roboto"/>
            </a:endParaRPr>
          </a:p>
          <a:p>
            <a:pPr marL="228600" lvl="1" indent="-91440" algn="l">
              <a:spcBef>
                <a:spcPts val="0"/>
              </a:spcBef>
              <a:spcAft>
                <a:spcPts val="0"/>
              </a:spcAft>
              <a:buSzPct val="111111"/>
              <a:buFont typeface="Arial"/>
              <a:buChar char="•"/>
            </a:pPr>
            <a:r>
              <a:rPr sz="1500" b="1" i="0" dirty="0">
                <a:solidFill>
                  <a:srgbClr val="1F2728"/>
                </a:solidFill>
                <a:latin typeface="Roboto"/>
              </a:rPr>
              <a:t>Risk Scoring:</a:t>
            </a:r>
            <a:r>
              <a:rPr sz="1500" b="0" i="0" dirty="0">
                <a:solidFill>
                  <a:srgbClr val="1F2728"/>
                </a:solidFill>
                <a:latin typeface="Roboto"/>
              </a:rPr>
              <a:t> Calculates fraud and risk scores using behavioral and transactional analytics.</a:t>
            </a:r>
            <a:endParaRPr lang="en-US" sz="1500" b="0" i="0" dirty="0">
              <a:solidFill>
                <a:srgbClr val="1F2728"/>
              </a:solidFill>
              <a:latin typeface="Roboto"/>
            </a:endParaRPr>
          </a:p>
          <a:p>
            <a:pPr marL="137160" lvl="1" algn="l">
              <a:spcBef>
                <a:spcPts val="0"/>
              </a:spcBef>
              <a:spcAft>
                <a:spcPts val="0"/>
              </a:spcAft>
              <a:buSzPct val="111111"/>
            </a:pPr>
            <a:endParaRPr sz="1500" b="0" i="0" dirty="0">
              <a:solidFill>
                <a:srgbClr val="1F2728"/>
              </a:solidFill>
              <a:latin typeface="Roboto"/>
            </a:endParaRPr>
          </a:p>
          <a:p>
            <a:pPr marL="228600" lvl="1" indent="-91440" algn="l">
              <a:spcBef>
                <a:spcPts val="0"/>
              </a:spcBef>
              <a:spcAft>
                <a:spcPts val="0"/>
              </a:spcAft>
              <a:buSzPct val="111111"/>
              <a:buFont typeface="Arial"/>
              <a:buChar char="•"/>
            </a:pPr>
            <a:r>
              <a:rPr sz="1500" b="1" i="0" dirty="0">
                <a:solidFill>
                  <a:srgbClr val="1F2728"/>
                </a:solidFill>
                <a:latin typeface="Roboto"/>
              </a:rPr>
              <a:t>Data Sources:</a:t>
            </a:r>
            <a:r>
              <a:rPr sz="1500" b="0" i="0" dirty="0">
                <a:solidFill>
                  <a:srgbClr val="1F2728"/>
                </a:solidFill>
                <a:latin typeface="Roboto"/>
              </a:rPr>
              <a:t> Integrates </a:t>
            </a:r>
            <a:r>
              <a:rPr sz="1500" b="0" i="0" dirty="0" err="1">
                <a:solidFill>
                  <a:srgbClr val="1F2728"/>
                </a:solidFill>
                <a:latin typeface="Roboto"/>
              </a:rPr>
              <a:t>FactTransactions</a:t>
            </a:r>
            <a:r>
              <a:rPr lang="en-US" sz="1500" dirty="0">
                <a:solidFill>
                  <a:srgbClr val="1F2728"/>
                </a:solidFill>
                <a:latin typeface="Roboto"/>
              </a:rPr>
              <a:t> and</a:t>
            </a:r>
            <a:r>
              <a:rPr sz="1500" b="0" i="0" dirty="0">
                <a:solidFill>
                  <a:srgbClr val="1F2728"/>
                </a:solidFill>
                <a:latin typeface="Roboto"/>
              </a:rPr>
              <a:t> </a:t>
            </a:r>
            <a:r>
              <a:rPr sz="1500" b="0" i="0" dirty="0" err="1">
                <a:solidFill>
                  <a:srgbClr val="1F2728"/>
                </a:solidFill>
                <a:latin typeface="Roboto"/>
              </a:rPr>
              <a:t>DimCustomer</a:t>
            </a:r>
            <a:r>
              <a:rPr sz="1500" b="0" i="0" dirty="0">
                <a:solidFill>
                  <a:srgbClr val="1F2728"/>
                </a:solidFill>
                <a:latin typeface="Roboto"/>
              </a:rPr>
              <a:t> from SQL and Cosmos DB.</a:t>
            </a:r>
          </a:p>
        </p:txBody>
      </p:sp>
      <p:sp>
        <p:nvSpPr>
          <p:cNvPr id="12" name="Rectangle 11"/>
          <p:cNvSpPr/>
          <p:nvPr/>
        </p:nvSpPr>
        <p:spPr>
          <a:xfrm>
            <a:off x="4620071" y="1508670"/>
            <a:ext cx="4142630" cy="260359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620071" y="1508670"/>
            <a:ext cx="4142630" cy="260359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20071" y="1508670"/>
            <a:ext cx="4142630" cy="2332136"/>
          </a:xfrm>
          <a:prstGeom prst="rect">
            <a:avLst/>
          </a:prstGeom>
          <a:noFill/>
          <a:ln>
            <a:noFill/>
          </a:ln>
        </p:spPr>
        <p:txBody>
          <a:bodyPr wrap="square" lIns="0" tIns="0" rIns="0" bIns="0" anchor="t">
            <a:spAutoFit/>
          </a:bodyPr>
          <a:lstStyle/>
          <a:p>
            <a:pPr algn="l"/>
            <a:endParaRPr/>
          </a:p>
        </p:txBody>
      </p:sp>
      <p:pic>
        <p:nvPicPr>
          <p:cNvPr id="15" name="Picture 14" descr="tmp0eeym02p.png"/>
          <p:cNvPicPr>
            <a:picLocks noChangeAspect="1"/>
          </p:cNvPicPr>
          <p:nvPr/>
        </p:nvPicPr>
        <p:blipFill>
          <a:blip r:embed="rId3"/>
          <a:stretch>
            <a:fillRect/>
          </a:stretch>
        </p:blipFill>
        <p:spPr>
          <a:xfrm>
            <a:off x="4620071" y="1508670"/>
            <a:ext cx="4142630" cy="2332136"/>
          </a:xfrm>
          <a:prstGeom prst="rect">
            <a:avLst/>
          </a:prstGeom>
        </p:spPr>
      </p:pic>
      <p:sp>
        <p:nvSpPr>
          <p:cNvPr id="16" name="Rectangle 15"/>
          <p:cNvSpPr/>
          <p:nvPr/>
        </p:nvSpPr>
        <p:spPr>
          <a:xfrm>
            <a:off x="4620071" y="3917007"/>
            <a:ext cx="4142630" cy="19526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Power BI Dashboards</a:t>
            </a:r>
          </a:p>
        </p:txBody>
      </p:sp>
      <p:sp>
        <p:nvSpPr>
          <p:cNvPr id="4" name="Subtitle 3"/>
          <p:cNvSpPr>
            <a:spLocks noGrp="1"/>
          </p:cNvSpPr>
          <p:nvPr>
            <p:ph type="subTitle" idx="13"/>
          </p:nvPr>
        </p:nvSpPr>
        <p:spPr/>
        <p:txBody>
          <a:bodyPr>
            <a:normAutofit/>
          </a:bodyPr>
          <a:lstStyle/>
          <a:p>
            <a:r>
              <a:t>Real-Time Banking Insights and Compliance Reports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4154685"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8600" y="1508670"/>
            <a:ext cx="4154685" cy="3208571"/>
          </a:xfrm>
          <a:prstGeom prst="rect">
            <a:avLst/>
          </a:prstGeom>
          <a:noFill/>
          <a:ln>
            <a:noFill/>
          </a:ln>
        </p:spPr>
        <p:txBody>
          <a:bodyPr wrap="square" lIns="165100" tIns="0" rIns="0" bIns="190500" anchor="t">
            <a:spAutoFit/>
          </a:bodyPr>
          <a:lstStyle/>
          <a:p>
            <a:pPr marL="228600" indent="-91440" algn="l">
              <a:spcBef>
                <a:spcPts val="0"/>
              </a:spcBef>
              <a:spcAft>
                <a:spcPts val="0"/>
              </a:spcAft>
              <a:buSzPct val="111111"/>
              <a:buFont typeface="Arial"/>
              <a:buChar char="•"/>
            </a:pPr>
            <a:r>
              <a:rPr sz="1400" b="1" i="0" dirty="0">
                <a:solidFill>
                  <a:srgbClr val="1F2728"/>
                </a:solidFill>
                <a:latin typeface="Roboto"/>
              </a:rPr>
              <a:t>Branch Performance:</a:t>
            </a:r>
            <a:r>
              <a:rPr sz="1400" b="0" i="0" dirty="0">
                <a:solidFill>
                  <a:srgbClr val="1F2728"/>
                </a:solidFill>
                <a:latin typeface="Roboto"/>
              </a:rPr>
              <a:t> Visualizes key performance metrics such as transaction volume, revenue, and customer growth.</a:t>
            </a:r>
            <a:endParaRPr lang="en-US" sz="1400" b="0" i="0" dirty="0">
              <a:solidFill>
                <a:srgbClr val="1F2728"/>
              </a:solidFill>
              <a:latin typeface="Roboto"/>
            </a:endParaRPr>
          </a:p>
          <a:p>
            <a:pPr marL="137160"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Fraud Analytics:</a:t>
            </a:r>
            <a:r>
              <a:rPr sz="1400" b="0" i="0" dirty="0">
                <a:solidFill>
                  <a:srgbClr val="1F2728"/>
                </a:solidFill>
                <a:latin typeface="Roboto"/>
              </a:rPr>
              <a:t> Monitors alert types, response time, and fraud losses in real-time dashboards.</a:t>
            </a:r>
            <a:endParaRPr lang="en-US" sz="1400" b="0" i="0" dirty="0">
              <a:solidFill>
                <a:srgbClr val="1F2728"/>
              </a:solidFill>
              <a:latin typeface="Roboto"/>
            </a:endParaRPr>
          </a:p>
          <a:p>
            <a:pPr marL="137160" lvl="1"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Channel Analysis:</a:t>
            </a:r>
            <a:r>
              <a:rPr sz="1400" b="0" i="0" dirty="0">
                <a:solidFill>
                  <a:srgbClr val="1F2728"/>
                </a:solidFill>
                <a:latin typeface="Roboto"/>
              </a:rPr>
              <a:t> Analyzes ATM</a:t>
            </a:r>
            <a:r>
              <a:rPr lang="en-US" dirty="0">
                <a:solidFill>
                  <a:srgbClr val="1F2728"/>
                </a:solidFill>
                <a:latin typeface="Roboto"/>
              </a:rPr>
              <a:t> and</a:t>
            </a:r>
            <a:r>
              <a:rPr sz="1400" b="0" i="0" dirty="0">
                <a:solidFill>
                  <a:srgbClr val="1F2728"/>
                </a:solidFill>
                <a:latin typeface="Roboto"/>
              </a:rPr>
              <a:t> UPI</a:t>
            </a:r>
            <a:r>
              <a:rPr lang="en-US" dirty="0">
                <a:solidFill>
                  <a:srgbClr val="1F2728"/>
                </a:solidFill>
                <a:latin typeface="Roboto"/>
              </a:rPr>
              <a:t> </a:t>
            </a:r>
            <a:r>
              <a:rPr sz="1400" b="0" i="0" dirty="0">
                <a:solidFill>
                  <a:srgbClr val="1F2728"/>
                </a:solidFill>
                <a:latin typeface="Roboto"/>
              </a:rPr>
              <a:t>usage trends across geographic and time dimensions.</a:t>
            </a:r>
            <a:endParaRPr lang="en-US" sz="1400" b="0" i="0" dirty="0">
              <a:solidFill>
                <a:srgbClr val="1F2728"/>
              </a:solidFill>
              <a:latin typeface="Roboto"/>
            </a:endParaRPr>
          </a:p>
          <a:p>
            <a:pPr marL="137160" lvl="1"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Regulatory Reporting:</a:t>
            </a:r>
            <a:r>
              <a:rPr sz="1400" b="0" i="0" dirty="0">
                <a:solidFill>
                  <a:srgbClr val="1F2728"/>
                </a:solidFill>
                <a:latin typeface="Roboto"/>
              </a:rPr>
              <a:t> Automates RBI compliance dashboards with data sourced from SQL and Cosmos DB layers.</a:t>
            </a:r>
          </a:p>
        </p:txBody>
      </p:sp>
      <p:sp>
        <p:nvSpPr>
          <p:cNvPr id="12" name="Rectangle 11"/>
          <p:cNvSpPr/>
          <p:nvPr/>
        </p:nvSpPr>
        <p:spPr>
          <a:xfrm>
            <a:off x="4608165" y="1508670"/>
            <a:ext cx="4154685" cy="260315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608165" y="1508670"/>
            <a:ext cx="4154685" cy="260315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08165" y="1508670"/>
            <a:ext cx="4154685" cy="2338685"/>
          </a:xfrm>
          <a:prstGeom prst="rect">
            <a:avLst/>
          </a:prstGeom>
          <a:noFill/>
          <a:ln>
            <a:noFill/>
          </a:ln>
        </p:spPr>
        <p:txBody>
          <a:bodyPr wrap="square" lIns="0" tIns="0" rIns="0" bIns="0" anchor="t">
            <a:spAutoFit/>
          </a:bodyPr>
          <a:lstStyle/>
          <a:p>
            <a:pPr algn="l"/>
            <a:endParaRPr/>
          </a:p>
        </p:txBody>
      </p:sp>
      <p:pic>
        <p:nvPicPr>
          <p:cNvPr id="15" name="Picture 14" descr="tmp_klf_mid.png"/>
          <p:cNvPicPr>
            <a:picLocks noChangeAspect="1"/>
          </p:cNvPicPr>
          <p:nvPr/>
        </p:nvPicPr>
        <p:blipFill>
          <a:blip r:embed="rId3"/>
          <a:stretch>
            <a:fillRect/>
          </a:stretch>
        </p:blipFill>
        <p:spPr>
          <a:xfrm>
            <a:off x="4608165" y="1508670"/>
            <a:ext cx="4154685" cy="2338685"/>
          </a:xfrm>
          <a:prstGeom prst="rect">
            <a:avLst/>
          </a:prstGeom>
        </p:spPr>
      </p:pic>
      <p:sp>
        <p:nvSpPr>
          <p:cNvPr id="16" name="Rectangle 15"/>
          <p:cNvSpPr/>
          <p:nvPr/>
        </p:nvSpPr>
        <p:spPr>
          <a:xfrm>
            <a:off x="4608165" y="3923555"/>
            <a:ext cx="4154685" cy="188118"/>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End-to-End Demo Scenario</a:t>
            </a:r>
          </a:p>
        </p:txBody>
      </p:sp>
      <p:sp>
        <p:nvSpPr>
          <p:cNvPr id="4" name="Subtitle 3"/>
          <p:cNvSpPr>
            <a:spLocks noGrp="1"/>
          </p:cNvSpPr>
          <p:nvPr>
            <p:ph type="subTitle" idx="13"/>
          </p:nvPr>
        </p:nvSpPr>
        <p:spPr/>
        <p:txBody>
          <a:bodyPr>
            <a:normAutofit/>
          </a:bodyPr>
          <a:lstStyle/>
          <a:p>
            <a:r>
              <a:t>Validating the Complete Banking Data Flow</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2860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2860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2860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162175"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162175" y="1508670"/>
            <a:ext cx="304800" cy="304800"/>
          </a:xfrm>
          <a:prstGeom prst="rect">
            <a:avLst/>
          </a:prstGeom>
          <a:noFill/>
          <a:ln>
            <a:noFill/>
          </a:ln>
        </p:spPr>
        <p:txBody>
          <a:bodyPr wrap="square" lIns="0" tIns="0" rIns="0" bIns="0" anchor="t">
            <a:spAutoFit/>
          </a:bodyPr>
          <a:lstStyle/>
          <a:p>
            <a:pPr algn="ctr"/>
            <a:endParaRPr/>
          </a:p>
        </p:txBody>
      </p:sp>
      <p:pic>
        <p:nvPicPr>
          <p:cNvPr id="16" name="Picture 15" descr="tmp2qmrddow.png"/>
          <p:cNvPicPr>
            <a:picLocks noChangeAspect="1"/>
          </p:cNvPicPr>
          <p:nvPr/>
        </p:nvPicPr>
        <p:blipFill>
          <a:blip r:embed="rId3"/>
          <a:stretch>
            <a:fillRect/>
          </a:stretch>
        </p:blipFill>
        <p:spPr>
          <a:xfrm>
            <a:off x="2162175" y="1508670"/>
            <a:ext cx="304800" cy="304800"/>
          </a:xfrm>
          <a:prstGeom prst="rect">
            <a:avLst/>
          </a:prstGeom>
        </p:spPr>
      </p:pic>
      <p:sp>
        <p:nvSpPr>
          <p:cNvPr id="17" name="TextBox 16"/>
          <p:cNvSpPr txBox="1"/>
          <p:nvPr/>
        </p:nvSpPr>
        <p:spPr>
          <a:xfrm>
            <a:off x="228600" y="1927770"/>
            <a:ext cx="4171950" cy="228600"/>
          </a:xfrm>
          <a:prstGeom prst="rect">
            <a:avLst/>
          </a:prstGeom>
          <a:noFill/>
          <a:ln>
            <a:noFill/>
          </a:ln>
        </p:spPr>
        <p:txBody>
          <a:bodyPr wrap="square" lIns="0" tIns="0" rIns="0" bIns="0" anchor="t">
            <a:spAutoFit/>
          </a:bodyPr>
          <a:lstStyle/>
          <a:p>
            <a:pPr algn="ctr"/>
            <a:r>
              <a:rPr sz="1300" b="1" i="0">
                <a:solidFill>
                  <a:srgbClr val="1F2728"/>
                </a:solidFill>
                <a:latin typeface="Roboto"/>
              </a:rPr>
              <a:t>Ingestion Simulation</a:t>
            </a:r>
          </a:p>
          <a:p>
            <a:pPr algn="ctr">
              <a:spcAft>
                <a:spcPts val="1200"/>
              </a:spcAft>
            </a:pPr>
            <a:r>
              <a:rPr sz="1400" b="0" i="0">
                <a:solidFill>
                  <a:srgbClr val="1F2728"/>
                </a:solidFill>
                <a:latin typeface="Roboto"/>
              </a:rPr>
              <a:t>Uploading ATM transaction CSV triggers Event Grid, which invokes an Azure Function for processing.</a:t>
            </a:r>
          </a:p>
        </p:txBody>
      </p:sp>
      <p:sp>
        <p:nvSpPr>
          <p:cNvPr id="18" name="Rectangle 17"/>
          <p:cNvSpPr/>
          <p:nvPr/>
        </p:nvSpPr>
        <p:spPr>
          <a:xfrm>
            <a:off x="459105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9105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9105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524625"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24625" y="1508670"/>
            <a:ext cx="304800" cy="304800"/>
          </a:xfrm>
          <a:prstGeom prst="rect">
            <a:avLst/>
          </a:prstGeom>
          <a:noFill/>
          <a:ln>
            <a:noFill/>
          </a:ln>
        </p:spPr>
        <p:txBody>
          <a:bodyPr wrap="square" lIns="0" tIns="0" rIns="0" bIns="0" anchor="t">
            <a:spAutoFit/>
          </a:bodyPr>
          <a:lstStyle/>
          <a:p>
            <a:pPr algn="ctr"/>
            <a:endParaRPr/>
          </a:p>
        </p:txBody>
      </p:sp>
      <p:pic>
        <p:nvPicPr>
          <p:cNvPr id="23" name="Picture 22" descr="tmphl_lkmbw.png"/>
          <p:cNvPicPr>
            <a:picLocks noChangeAspect="1"/>
          </p:cNvPicPr>
          <p:nvPr/>
        </p:nvPicPr>
        <p:blipFill>
          <a:blip r:embed="rId4"/>
          <a:stretch>
            <a:fillRect/>
          </a:stretch>
        </p:blipFill>
        <p:spPr>
          <a:xfrm>
            <a:off x="6524625" y="1508670"/>
            <a:ext cx="304800" cy="304800"/>
          </a:xfrm>
          <a:prstGeom prst="rect">
            <a:avLst/>
          </a:prstGeom>
        </p:spPr>
      </p:pic>
      <p:sp>
        <p:nvSpPr>
          <p:cNvPr id="24" name="TextBox 23"/>
          <p:cNvSpPr txBox="1"/>
          <p:nvPr/>
        </p:nvSpPr>
        <p:spPr>
          <a:xfrm>
            <a:off x="4591050" y="1927770"/>
            <a:ext cx="4171950" cy="630942"/>
          </a:xfrm>
          <a:prstGeom prst="rect">
            <a:avLst/>
          </a:prstGeom>
          <a:noFill/>
          <a:ln>
            <a:noFill/>
          </a:ln>
        </p:spPr>
        <p:txBody>
          <a:bodyPr wrap="square" lIns="0" tIns="0" rIns="0" bIns="0" anchor="t">
            <a:spAutoFit/>
          </a:bodyPr>
          <a:lstStyle/>
          <a:p>
            <a:pPr algn="ctr"/>
            <a:r>
              <a:rPr sz="1300" b="1" i="0" dirty="0">
                <a:solidFill>
                  <a:srgbClr val="1F2728"/>
                </a:solidFill>
                <a:latin typeface="Roboto"/>
              </a:rPr>
              <a:t>Transformation &amp; Storage</a:t>
            </a:r>
          </a:p>
          <a:p>
            <a:pPr algn="ctr">
              <a:spcAft>
                <a:spcPts val="1200"/>
              </a:spcAft>
            </a:pPr>
            <a:r>
              <a:rPr sz="1400" b="0" i="0" dirty="0" err="1">
                <a:solidFill>
                  <a:srgbClr val="1F2728"/>
                </a:solidFill>
                <a:latin typeface="Roboto"/>
              </a:rPr>
              <a:t>PySpark</a:t>
            </a:r>
            <a:r>
              <a:rPr sz="1400" b="0" i="0" dirty="0">
                <a:solidFill>
                  <a:srgbClr val="1F2728"/>
                </a:solidFill>
                <a:latin typeface="Roboto"/>
              </a:rPr>
              <a:t> pipeline cleanses and loads the data into Cosmos DB and Azure SQL.</a:t>
            </a:r>
          </a:p>
        </p:txBody>
      </p:sp>
      <p:sp>
        <p:nvSpPr>
          <p:cNvPr id="25" name="Rectangle 24"/>
          <p:cNvSpPr/>
          <p:nvPr/>
        </p:nvSpPr>
        <p:spPr>
          <a:xfrm>
            <a:off x="228600" y="3276153"/>
            <a:ext cx="4171950" cy="157698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2860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2860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162175" y="3276153"/>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162175" y="3276153"/>
            <a:ext cx="304800" cy="304800"/>
          </a:xfrm>
          <a:prstGeom prst="rect">
            <a:avLst/>
          </a:prstGeom>
          <a:noFill/>
          <a:ln>
            <a:noFill/>
          </a:ln>
        </p:spPr>
        <p:txBody>
          <a:bodyPr wrap="square" lIns="0" tIns="0" rIns="0" bIns="0" anchor="t">
            <a:spAutoFit/>
          </a:bodyPr>
          <a:lstStyle/>
          <a:p>
            <a:pPr algn="ctr"/>
            <a:endParaRPr/>
          </a:p>
        </p:txBody>
      </p:sp>
      <p:pic>
        <p:nvPicPr>
          <p:cNvPr id="30" name="Picture 29" descr="tmpden79zq6.png"/>
          <p:cNvPicPr>
            <a:picLocks noChangeAspect="1"/>
          </p:cNvPicPr>
          <p:nvPr/>
        </p:nvPicPr>
        <p:blipFill>
          <a:blip r:embed="rId5"/>
          <a:stretch>
            <a:fillRect/>
          </a:stretch>
        </p:blipFill>
        <p:spPr>
          <a:xfrm>
            <a:off x="2162175" y="3276153"/>
            <a:ext cx="304800" cy="304800"/>
          </a:xfrm>
          <a:prstGeom prst="rect">
            <a:avLst/>
          </a:prstGeom>
        </p:spPr>
      </p:pic>
      <p:sp>
        <p:nvSpPr>
          <p:cNvPr id="31" name="TextBox 30"/>
          <p:cNvSpPr txBox="1"/>
          <p:nvPr/>
        </p:nvSpPr>
        <p:spPr>
          <a:xfrm>
            <a:off x="228600" y="3695253"/>
            <a:ext cx="4171950" cy="228600"/>
          </a:xfrm>
          <a:prstGeom prst="rect">
            <a:avLst/>
          </a:prstGeom>
          <a:noFill/>
          <a:ln>
            <a:noFill/>
          </a:ln>
        </p:spPr>
        <p:txBody>
          <a:bodyPr wrap="square" lIns="0" tIns="0" rIns="0" bIns="0" anchor="t">
            <a:spAutoFit/>
          </a:bodyPr>
          <a:lstStyle/>
          <a:p>
            <a:pPr algn="ctr"/>
            <a:r>
              <a:rPr sz="1300" b="1" i="0">
                <a:solidFill>
                  <a:srgbClr val="1F2728"/>
                </a:solidFill>
                <a:latin typeface="Roboto"/>
              </a:rPr>
              <a:t>Visualization</a:t>
            </a:r>
          </a:p>
          <a:p>
            <a:pPr algn="ctr">
              <a:spcAft>
                <a:spcPts val="1200"/>
              </a:spcAft>
            </a:pPr>
            <a:r>
              <a:rPr sz="1400" b="0" i="0">
                <a:solidFill>
                  <a:srgbClr val="1F2728"/>
                </a:solidFill>
                <a:latin typeface="Roboto"/>
              </a:rPr>
              <a:t>Power BI dashboards automatically refresh with updated transaction metrics and fraud alerts.</a:t>
            </a:r>
          </a:p>
        </p:txBody>
      </p:sp>
      <p:sp>
        <p:nvSpPr>
          <p:cNvPr id="32" name="Rectangle 31"/>
          <p:cNvSpPr/>
          <p:nvPr/>
        </p:nvSpPr>
        <p:spPr>
          <a:xfrm>
            <a:off x="4591050" y="3276153"/>
            <a:ext cx="4171950" cy="157698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9105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59105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524625" y="3276153"/>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24625" y="3276153"/>
            <a:ext cx="304800" cy="304800"/>
          </a:xfrm>
          <a:prstGeom prst="rect">
            <a:avLst/>
          </a:prstGeom>
          <a:noFill/>
          <a:ln>
            <a:noFill/>
          </a:ln>
        </p:spPr>
        <p:txBody>
          <a:bodyPr wrap="square" lIns="0" tIns="0" rIns="0" bIns="0" anchor="t">
            <a:spAutoFit/>
          </a:bodyPr>
          <a:lstStyle/>
          <a:p>
            <a:pPr algn="ctr"/>
            <a:endParaRPr/>
          </a:p>
        </p:txBody>
      </p:sp>
      <p:pic>
        <p:nvPicPr>
          <p:cNvPr id="37" name="Picture 36" descr="tmpxqe53ryl.png"/>
          <p:cNvPicPr>
            <a:picLocks noChangeAspect="1"/>
          </p:cNvPicPr>
          <p:nvPr/>
        </p:nvPicPr>
        <p:blipFill>
          <a:blip r:embed="rId6"/>
          <a:stretch>
            <a:fillRect/>
          </a:stretch>
        </p:blipFill>
        <p:spPr>
          <a:xfrm>
            <a:off x="6524625" y="3276153"/>
            <a:ext cx="304800" cy="304800"/>
          </a:xfrm>
          <a:prstGeom prst="rect">
            <a:avLst/>
          </a:prstGeom>
        </p:spPr>
      </p:pic>
      <p:sp>
        <p:nvSpPr>
          <p:cNvPr id="38" name="TextBox 37"/>
          <p:cNvSpPr txBox="1"/>
          <p:nvPr/>
        </p:nvSpPr>
        <p:spPr>
          <a:xfrm>
            <a:off x="4591050" y="3695253"/>
            <a:ext cx="4171950" cy="228600"/>
          </a:xfrm>
          <a:prstGeom prst="rect">
            <a:avLst/>
          </a:prstGeom>
          <a:noFill/>
          <a:ln>
            <a:noFill/>
          </a:ln>
        </p:spPr>
        <p:txBody>
          <a:bodyPr wrap="square" lIns="0" tIns="0" rIns="0" bIns="0" anchor="t">
            <a:spAutoFit/>
          </a:bodyPr>
          <a:lstStyle/>
          <a:p>
            <a:pPr algn="ctr"/>
            <a:r>
              <a:rPr sz="1300" b="1" i="0">
                <a:solidFill>
                  <a:srgbClr val="1F2728"/>
                </a:solidFill>
                <a:latin typeface="Roboto"/>
              </a:rPr>
              <a:t>Real-Time Alerting</a:t>
            </a:r>
          </a:p>
          <a:p>
            <a:pPr algn="ctr">
              <a:spcAft>
                <a:spcPts val="1200"/>
              </a:spcAft>
            </a:pPr>
            <a:r>
              <a:rPr sz="1400" b="0" i="0">
                <a:solidFill>
                  <a:srgbClr val="1F2728"/>
                </a:solidFill>
                <a:latin typeface="Roboto"/>
              </a:rPr>
              <a:t>High-value suspicious transactions trigger instant notifications through Service Bus.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Final Platform Capabilities</a:t>
            </a:r>
          </a:p>
        </p:txBody>
      </p:sp>
      <p:sp>
        <p:nvSpPr>
          <p:cNvPr id="4" name="Subtitle 3"/>
          <p:cNvSpPr>
            <a:spLocks noGrp="1"/>
          </p:cNvSpPr>
          <p:nvPr>
            <p:ph type="subTitle" idx="13"/>
          </p:nvPr>
        </p:nvSpPr>
        <p:spPr/>
        <p:txBody>
          <a:bodyPr>
            <a:normAutofit/>
          </a:bodyPr>
          <a:lstStyle/>
          <a:p>
            <a:r>
              <a:t>Comprehensive, Secure, and Scalable Banking Data Solution</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4154685" cy="334506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8600" y="1508670"/>
            <a:ext cx="4154685" cy="3424014"/>
          </a:xfrm>
          <a:prstGeom prst="rect">
            <a:avLst/>
          </a:prstGeom>
          <a:noFill/>
          <a:ln>
            <a:noFill/>
          </a:ln>
        </p:spPr>
        <p:txBody>
          <a:bodyPr wrap="square" lIns="165100" tIns="0" rIns="0" bIns="190500" anchor="t">
            <a:spAutoFit/>
          </a:bodyPr>
          <a:lstStyle/>
          <a:p>
            <a:pPr marL="228600" indent="-91440" algn="l">
              <a:spcBef>
                <a:spcPts val="0"/>
              </a:spcBef>
              <a:spcAft>
                <a:spcPts val="0"/>
              </a:spcAft>
              <a:buSzPct val="111111"/>
              <a:buFont typeface="Arial"/>
              <a:buChar char="•"/>
            </a:pPr>
            <a:r>
              <a:rPr sz="1400" b="1" i="0" dirty="0">
                <a:solidFill>
                  <a:srgbClr val="1F2728"/>
                </a:solidFill>
                <a:latin typeface="Roboto"/>
              </a:rPr>
              <a:t>Real-Time and Batch Processing:</a:t>
            </a:r>
            <a:r>
              <a:rPr sz="1400" b="0" i="0" dirty="0">
                <a:solidFill>
                  <a:srgbClr val="1F2728"/>
                </a:solidFill>
                <a:latin typeface="Roboto"/>
              </a:rPr>
              <a:t> Handles high-throughput event streams and historical batch data with equal efficiency.</a:t>
            </a:r>
            <a:endParaRPr lang="en-US" sz="1400" b="0" i="0" dirty="0">
              <a:solidFill>
                <a:srgbClr val="1F2728"/>
              </a:solidFill>
              <a:latin typeface="Roboto"/>
            </a:endParaRPr>
          </a:p>
          <a:p>
            <a:pPr marL="137160"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Advanced Analytics:</a:t>
            </a:r>
            <a:r>
              <a:rPr sz="1400" b="0" i="0" dirty="0">
                <a:solidFill>
                  <a:srgbClr val="1F2728"/>
                </a:solidFill>
                <a:latin typeface="Roboto"/>
              </a:rPr>
              <a:t> Supports fraud detection, Customer 360 insights, and predictive modeling using </a:t>
            </a:r>
            <a:r>
              <a:rPr sz="1400" b="0" i="0" dirty="0" err="1">
                <a:solidFill>
                  <a:srgbClr val="1F2728"/>
                </a:solidFill>
                <a:latin typeface="Roboto"/>
              </a:rPr>
              <a:t>PySpark</a:t>
            </a:r>
            <a:r>
              <a:rPr sz="1400" b="0" i="0" dirty="0">
                <a:solidFill>
                  <a:srgbClr val="1F2728"/>
                </a:solidFill>
                <a:latin typeface="Roboto"/>
              </a:rPr>
              <a:t> and Power BI.</a:t>
            </a:r>
            <a:endParaRPr lang="en-US" sz="1400" b="0" i="0" dirty="0">
              <a:solidFill>
                <a:srgbClr val="1F2728"/>
              </a:solidFill>
              <a:latin typeface="Roboto"/>
            </a:endParaRPr>
          </a:p>
          <a:p>
            <a:pPr marL="137160" lvl="1"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Automation &amp; CI/CD:</a:t>
            </a:r>
            <a:r>
              <a:rPr sz="1400" b="0" i="0" dirty="0">
                <a:solidFill>
                  <a:srgbClr val="1F2728"/>
                </a:solidFill>
                <a:latin typeface="Roboto"/>
              </a:rPr>
              <a:t> Fully automated deployments with GitHub Actions ensure rapid, consistent releases.</a:t>
            </a:r>
            <a:endParaRPr lang="en-US" sz="1400" b="0" i="0" dirty="0">
              <a:solidFill>
                <a:srgbClr val="1F2728"/>
              </a:solidFill>
              <a:latin typeface="Roboto"/>
            </a:endParaRPr>
          </a:p>
          <a:p>
            <a:pPr marL="137160" lvl="1"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Enterprise Security:</a:t>
            </a:r>
            <a:r>
              <a:rPr sz="1400" b="0" i="0" dirty="0">
                <a:solidFill>
                  <a:srgbClr val="1F2728"/>
                </a:solidFill>
                <a:latin typeface="Roboto"/>
              </a:rPr>
              <a:t> Implements end-to-end encryption, firewall protection, and network isolation for compliance.</a:t>
            </a:r>
          </a:p>
        </p:txBody>
      </p:sp>
      <p:sp>
        <p:nvSpPr>
          <p:cNvPr id="12" name="Rectangle 11"/>
          <p:cNvSpPr/>
          <p:nvPr/>
        </p:nvSpPr>
        <p:spPr>
          <a:xfrm>
            <a:off x="4608165" y="1508670"/>
            <a:ext cx="4154685" cy="260315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608165" y="1508670"/>
            <a:ext cx="4154685" cy="260315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08165" y="1508670"/>
            <a:ext cx="4154685" cy="2338685"/>
          </a:xfrm>
          <a:prstGeom prst="rect">
            <a:avLst/>
          </a:prstGeom>
          <a:noFill/>
          <a:ln>
            <a:noFill/>
          </a:ln>
        </p:spPr>
        <p:txBody>
          <a:bodyPr wrap="square" lIns="0" tIns="0" rIns="0" bIns="0" anchor="t">
            <a:spAutoFit/>
          </a:bodyPr>
          <a:lstStyle/>
          <a:p>
            <a:pPr algn="l"/>
            <a:endParaRPr/>
          </a:p>
        </p:txBody>
      </p:sp>
      <p:pic>
        <p:nvPicPr>
          <p:cNvPr id="15" name="Picture 14" descr="tmpdr4uvccc.png"/>
          <p:cNvPicPr>
            <a:picLocks noChangeAspect="1"/>
          </p:cNvPicPr>
          <p:nvPr/>
        </p:nvPicPr>
        <p:blipFill>
          <a:blip r:embed="rId3"/>
          <a:stretch>
            <a:fillRect/>
          </a:stretch>
        </p:blipFill>
        <p:spPr>
          <a:xfrm>
            <a:off x="4608165" y="1508670"/>
            <a:ext cx="4154685" cy="2338685"/>
          </a:xfrm>
          <a:prstGeom prst="rect">
            <a:avLst/>
          </a:prstGeom>
        </p:spPr>
      </p:pic>
      <p:sp>
        <p:nvSpPr>
          <p:cNvPr id="16" name="Rectangle 15"/>
          <p:cNvSpPr/>
          <p:nvPr/>
        </p:nvSpPr>
        <p:spPr>
          <a:xfrm>
            <a:off x="4608165" y="3923555"/>
            <a:ext cx="4154685" cy="188118"/>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Business Impact &amp; Insights</a:t>
            </a:r>
          </a:p>
        </p:txBody>
      </p:sp>
      <p:sp>
        <p:nvSpPr>
          <p:cNvPr id="4" name="Subtitle 3"/>
          <p:cNvSpPr>
            <a:spLocks noGrp="1"/>
          </p:cNvSpPr>
          <p:nvPr>
            <p:ph type="subTitle" idx="13"/>
          </p:nvPr>
        </p:nvSpPr>
        <p:spPr/>
        <p:txBody>
          <a:bodyPr>
            <a:normAutofit/>
          </a:bodyPr>
          <a:lstStyle/>
          <a:p>
            <a:r>
              <a:t>Transformational Outcomes for the Bank</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4154685" cy="334506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8600" y="1508670"/>
            <a:ext cx="4154685" cy="3424014"/>
          </a:xfrm>
          <a:prstGeom prst="rect">
            <a:avLst/>
          </a:prstGeom>
          <a:noFill/>
          <a:ln>
            <a:noFill/>
          </a:ln>
        </p:spPr>
        <p:txBody>
          <a:bodyPr wrap="square" lIns="165100" tIns="0" rIns="0" bIns="190500" anchor="t">
            <a:spAutoFit/>
          </a:bodyPr>
          <a:lstStyle/>
          <a:p>
            <a:pPr marL="228600" indent="-91440" algn="l">
              <a:spcBef>
                <a:spcPts val="0"/>
              </a:spcBef>
              <a:spcAft>
                <a:spcPts val="0"/>
              </a:spcAft>
              <a:buSzPct val="111111"/>
              <a:buFont typeface="Arial"/>
              <a:buChar char="•"/>
            </a:pPr>
            <a:r>
              <a:rPr sz="1400" b="1" i="0" dirty="0">
                <a:solidFill>
                  <a:srgbClr val="1F2728"/>
                </a:solidFill>
                <a:latin typeface="Roboto"/>
              </a:rPr>
              <a:t>Operational Efficiency:</a:t>
            </a:r>
            <a:r>
              <a:rPr sz="1400" b="0" i="0" dirty="0">
                <a:solidFill>
                  <a:srgbClr val="1F2728"/>
                </a:solidFill>
                <a:latin typeface="Roboto"/>
              </a:rPr>
              <a:t> End-to-end automation reduced manual reporting effort by over 60% and improved data refresh times.</a:t>
            </a:r>
            <a:endParaRPr lang="en-US" sz="1400" b="0" i="0" dirty="0">
              <a:solidFill>
                <a:srgbClr val="1F2728"/>
              </a:solidFill>
              <a:latin typeface="Roboto"/>
            </a:endParaRPr>
          </a:p>
          <a:p>
            <a:pPr marL="137160"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Risk Mitigation:</a:t>
            </a:r>
            <a:r>
              <a:rPr sz="1400" b="0" i="0" dirty="0">
                <a:solidFill>
                  <a:srgbClr val="1F2728"/>
                </a:solidFill>
                <a:latin typeface="Roboto"/>
              </a:rPr>
              <a:t> Real-time fraud detection minimized transaction-related losses and improved response speed.</a:t>
            </a:r>
            <a:endParaRPr lang="en-US" sz="1400" b="0" i="0" dirty="0">
              <a:solidFill>
                <a:srgbClr val="1F2728"/>
              </a:solidFill>
              <a:latin typeface="Roboto"/>
            </a:endParaRPr>
          </a:p>
          <a:p>
            <a:pPr marL="137160" lvl="1"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Customer Intelligence:</a:t>
            </a:r>
            <a:r>
              <a:rPr sz="1400" b="0" i="0" dirty="0">
                <a:solidFill>
                  <a:srgbClr val="1F2728"/>
                </a:solidFill>
                <a:latin typeface="Roboto"/>
              </a:rPr>
              <a:t> Customer 360 analytics enabled better segmentation, retention, and product cross-selling</a:t>
            </a:r>
            <a:r>
              <a:rPr lang="en-US" sz="1400" b="0" i="0" dirty="0">
                <a:solidFill>
                  <a:srgbClr val="1F2728"/>
                </a:solidFill>
                <a:latin typeface="Roboto"/>
              </a:rPr>
              <a:t>.</a:t>
            </a:r>
          </a:p>
          <a:p>
            <a:pPr marL="137160" lvl="1"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Regulatory Compliance:</a:t>
            </a:r>
            <a:r>
              <a:rPr sz="1400" b="0" i="0" dirty="0">
                <a:solidFill>
                  <a:srgbClr val="1F2728"/>
                </a:solidFill>
                <a:latin typeface="Roboto"/>
              </a:rPr>
              <a:t> Automated RBI reporting ensured full adherence to financial and data protection standards.</a:t>
            </a:r>
          </a:p>
        </p:txBody>
      </p:sp>
      <p:sp>
        <p:nvSpPr>
          <p:cNvPr id="12" name="Rectangle 11"/>
          <p:cNvSpPr/>
          <p:nvPr/>
        </p:nvSpPr>
        <p:spPr>
          <a:xfrm>
            <a:off x="4608165" y="1508670"/>
            <a:ext cx="4154685" cy="260315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608165" y="1508670"/>
            <a:ext cx="4154685" cy="260315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08165" y="1508670"/>
            <a:ext cx="4154685" cy="2338685"/>
          </a:xfrm>
          <a:prstGeom prst="rect">
            <a:avLst/>
          </a:prstGeom>
          <a:noFill/>
          <a:ln>
            <a:noFill/>
          </a:ln>
        </p:spPr>
        <p:txBody>
          <a:bodyPr wrap="square" lIns="0" tIns="0" rIns="0" bIns="0" anchor="t">
            <a:spAutoFit/>
          </a:bodyPr>
          <a:lstStyle/>
          <a:p>
            <a:pPr algn="l"/>
            <a:endParaRPr/>
          </a:p>
        </p:txBody>
      </p:sp>
      <p:pic>
        <p:nvPicPr>
          <p:cNvPr id="15" name="Picture 14" descr="tmpmsy7zh55.png"/>
          <p:cNvPicPr>
            <a:picLocks noChangeAspect="1"/>
          </p:cNvPicPr>
          <p:nvPr/>
        </p:nvPicPr>
        <p:blipFill>
          <a:blip r:embed="rId3"/>
          <a:stretch>
            <a:fillRect/>
          </a:stretch>
        </p:blipFill>
        <p:spPr>
          <a:xfrm>
            <a:off x="4608165" y="1508670"/>
            <a:ext cx="4154685" cy="2338685"/>
          </a:xfrm>
          <a:prstGeom prst="rect">
            <a:avLst/>
          </a:prstGeom>
        </p:spPr>
      </p:pic>
      <p:sp>
        <p:nvSpPr>
          <p:cNvPr id="16" name="Rectangle 15"/>
          <p:cNvSpPr/>
          <p:nvPr/>
        </p:nvSpPr>
        <p:spPr>
          <a:xfrm>
            <a:off x="4608165" y="3923555"/>
            <a:ext cx="4154685" cy="188118"/>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Conclusion &amp; Next Steps</a:t>
            </a:r>
          </a:p>
        </p:txBody>
      </p:sp>
      <p:sp>
        <p:nvSpPr>
          <p:cNvPr id="4" name="Subtitle 3"/>
          <p:cNvSpPr>
            <a:spLocks noGrp="1"/>
          </p:cNvSpPr>
          <p:nvPr>
            <p:ph type="subTitle" idx="13"/>
          </p:nvPr>
        </p:nvSpPr>
        <p:spPr/>
        <p:txBody>
          <a:bodyPr>
            <a:normAutofit/>
          </a:bodyPr>
          <a:lstStyle/>
          <a:p>
            <a:r>
              <a:t>Building the Future of Data-Driven Banking</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508670"/>
            <a:ext cx="4154685" cy="334506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8600" y="1508670"/>
            <a:ext cx="4154685" cy="3424014"/>
          </a:xfrm>
          <a:prstGeom prst="rect">
            <a:avLst/>
          </a:prstGeom>
          <a:noFill/>
          <a:ln>
            <a:noFill/>
          </a:ln>
        </p:spPr>
        <p:txBody>
          <a:bodyPr wrap="square" lIns="165100" tIns="0" rIns="0" bIns="190500" anchor="t">
            <a:spAutoFit/>
          </a:bodyPr>
          <a:lstStyle/>
          <a:p>
            <a:pPr marL="228600" indent="-91440" algn="l">
              <a:spcBef>
                <a:spcPts val="0"/>
              </a:spcBef>
              <a:spcAft>
                <a:spcPts val="0"/>
              </a:spcAft>
              <a:buSzPct val="111111"/>
              <a:buFont typeface="Arial"/>
              <a:buChar char="•"/>
            </a:pPr>
            <a:r>
              <a:rPr sz="1400" b="1" i="0" dirty="0">
                <a:solidFill>
                  <a:srgbClr val="1F2728"/>
                </a:solidFill>
                <a:latin typeface="Roboto"/>
              </a:rPr>
              <a:t>End-to-End Modernization:</a:t>
            </a:r>
            <a:r>
              <a:rPr sz="1400" b="0" i="0" dirty="0">
                <a:solidFill>
                  <a:srgbClr val="1F2728"/>
                </a:solidFill>
                <a:latin typeface="Roboto"/>
              </a:rPr>
              <a:t> Delivered a robust Azure-based data platform integrating ingestion, processing, analytics, and reporting.</a:t>
            </a:r>
            <a:endParaRPr lang="en-US" sz="1400" b="0" i="0" dirty="0">
              <a:solidFill>
                <a:srgbClr val="1F2728"/>
              </a:solidFill>
              <a:latin typeface="Roboto"/>
            </a:endParaRPr>
          </a:p>
          <a:p>
            <a:pPr marL="137160"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Scalable and Secure:</a:t>
            </a:r>
            <a:r>
              <a:rPr sz="1400" b="0" i="0" dirty="0">
                <a:solidFill>
                  <a:srgbClr val="1F2728"/>
                </a:solidFill>
                <a:latin typeface="Roboto"/>
              </a:rPr>
              <a:t> Designed with enterprise security, CI/CD automation, and real-time analytics for future scalability.</a:t>
            </a:r>
            <a:endParaRPr lang="en-US" sz="1400" b="0" i="0" dirty="0">
              <a:solidFill>
                <a:srgbClr val="1F2728"/>
              </a:solidFill>
              <a:latin typeface="Roboto"/>
            </a:endParaRPr>
          </a:p>
          <a:p>
            <a:pPr marL="137160" lvl="1"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Future Roadmap:</a:t>
            </a:r>
            <a:r>
              <a:rPr sz="1400" b="0" i="0" dirty="0">
                <a:solidFill>
                  <a:srgbClr val="1F2728"/>
                </a:solidFill>
                <a:latin typeface="Roboto"/>
              </a:rPr>
              <a:t> Integrate machine learning models for predictive credit scoring and customer churn prevention.</a:t>
            </a:r>
            <a:endParaRPr lang="en-US" sz="1400" b="0" i="0" dirty="0">
              <a:solidFill>
                <a:srgbClr val="1F2728"/>
              </a:solidFill>
              <a:latin typeface="Roboto"/>
            </a:endParaRPr>
          </a:p>
          <a:p>
            <a:pPr marL="137160" lvl="1" algn="l">
              <a:spcBef>
                <a:spcPts val="0"/>
              </a:spcBef>
              <a:spcAft>
                <a:spcPts val="0"/>
              </a:spcAft>
              <a:buSzPct val="111111"/>
            </a:pPr>
            <a:endParaRPr sz="1400" b="0" i="0" dirty="0">
              <a:solidFill>
                <a:srgbClr val="1F2728"/>
              </a:solidFill>
              <a:latin typeface="Roboto"/>
            </a:endParaRPr>
          </a:p>
          <a:p>
            <a:pPr marL="228600" lvl="1" indent="-91440" algn="l">
              <a:spcBef>
                <a:spcPts val="0"/>
              </a:spcBef>
              <a:spcAft>
                <a:spcPts val="0"/>
              </a:spcAft>
              <a:buSzPct val="111111"/>
              <a:buFont typeface="Arial"/>
              <a:buChar char="•"/>
            </a:pPr>
            <a:r>
              <a:rPr sz="1400" b="1" i="0" dirty="0">
                <a:solidFill>
                  <a:srgbClr val="1F2728"/>
                </a:solidFill>
                <a:latin typeface="Roboto"/>
              </a:rPr>
              <a:t>Continuous Innovation:</a:t>
            </a:r>
            <a:r>
              <a:rPr sz="1400" b="0" i="0" dirty="0">
                <a:solidFill>
                  <a:srgbClr val="1F2728"/>
                </a:solidFill>
                <a:latin typeface="Roboto"/>
              </a:rPr>
              <a:t> The platform establishes a foundation for ongoing digital transformation across all banking domains.</a:t>
            </a:r>
          </a:p>
        </p:txBody>
      </p:sp>
      <p:sp>
        <p:nvSpPr>
          <p:cNvPr id="12" name="Rectangle 11"/>
          <p:cNvSpPr/>
          <p:nvPr/>
        </p:nvSpPr>
        <p:spPr>
          <a:xfrm>
            <a:off x="4608165" y="1508670"/>
            <a:ext cx="4154685" cy="260315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608165" y="1508670"/>
            <a:ext cx="4154685" cy="260315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08165" y="1508670"/>
            <a:ext cx="4154685" cy="2338685"/>
          </a:xfrm>
          <a:prstGeom prst="rect">
            <a:avLst/>
          </a:prstGeom>
          <a:noFill/>
          <a:ln>
            <a:noFill/>
          </a:ln>
        </p:spPr>
        <p:txBody>
          <a:bodyPr wrap="square" lIns="0" tIns="0" rIns="0" bIns="0" anchor="t">
            <a:spAutoFit/>
          </a:bodyPr>
          <a:lstStyle/>
          <a:p>
            <a:pPr algn="l"/>
            <a:endParaRPr/>
          </a:p>
        </p:txBody>
      </p:sp>
      <p:pic>
        <p:nvPicPr>
          <p:cNvPr id="15" name="Picture 14" descr="tmp0wo0zhfa.png"/>
          <p:cNvPicPr>
            <a:picLocks noChangeAspect="1"/>
          </p:cNvPicPr>
          <p:nvPr/>
        </p:nvPicPr>
        <p:blipFill>
          <a:blip r:embed="rId3"/>
          <a:stretch>
            <a:fillRect/>
          </a:stretch>
        </p:blipFill>
        <p:spPr>
          <a:xfrm>
            <a:off x="4608165" y="1508670"/>
            <a:ext cx="4154685" cy="2338685"/>
          </a:xfrm>
          <a:prstGeom prst="rect">
            <a:avLst/>
          </a:prstGeom>
        </p:spPr>
      </p:pic>
      <p:sp>
        <p:nvSpPr>
          <p:cNvPr id="16" name="Rectangle 15"/>
          <p:cNvSpPr/>
          <p:nvPr/>
        </p:nvSpPr>
        <p:spPr>
          <a:xfrm>
            <a:off x="4608165" y="3923555"/>
            <a:ext cx="4154685" cy="188118"/>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63D297"/>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TotalTime>
  <Words>3042</Words>
  <Application>Microsoft Office PowerPoint</Application>
  <PresentationFormat>On-screen Show (16:9)</PresentationFormat>
  <Paragraphs>235</Paragraphs>
  <Slides>21</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Roboto</vt:lpstr>
      <vt:lpstr>Arial</vt:lpstr>
      <vt:lpstr>Proxima Nova</vt:lpstr>
      <vt:lpstr>Spearmint</vt:lpstr>
      <vt:lpstr>Azure Banking Data Platform</vt:lpstr>
      <vt:lpstr>End-to-End Enterprise Project Overview</vt:lpstr>
      <vt:lpstr>Project Objectives &amp; Business Outcomes</vt:lpstr>
      <vt:lpstr>Architecture Overview</vt:lpstr>
      <vt:lpstr>Data Ingestion Layer</vt:lpstr>
      <vt:lpstr>Source Systems Integration</vt:lpstr>
      <vt:lpstr>Event-Driven Ingestion Framework</vt:lpstr>
      <vt:lpstr>Azure Functions for Data Transformation</vt:lpstr>
      <vt:lpstr>Cosmos DB Operational Store</vt:lpstr>
      <vt:lpstr>PySpark Data Cleaning Pipeline</vt:lpstr>
      <vt:lpstr>Data Warehouse Design – Star Schema</vt:lpstr>
      <vt:lpstr>ETL Pipeline Logic</vt:lpstr>
      <vt:lpstr>Real-Time Fraud Detection</vt:lpstr>
      <vt:lpstr>Project Challenges</vt:lpstr>
      <vt:lpstr>CI/CD Pipeline Automation</vt:lpstr>
      <vt:lpstr>Customer 360 Analytics</vt:lpstr>
      <vt:lpstr>Power BI Dashboards</vt:lpstr>
      <vt:lpstr>End-to-End Demo Scenario</vt:lpstr>
      <vt:lpstr>Final Platform Capabilities</vt:lpstr>
      <vt:lpstr>Business Impact &amp; Insights</vt:lpstr>
      <vt:lpstr>Conclusion &amp;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 Bathula</dc:creator>
  <cp:lastModifiedBy>Ram Bathula</cp:lastModifiedBy>
  <cp:revision>5</cp:revision>
  <dcterms:modified xsi:type="dcterms:W3CDTF">2025-12-10T11:22:03Z</dcterms:modified>
</cp:coreProperties>
</file>